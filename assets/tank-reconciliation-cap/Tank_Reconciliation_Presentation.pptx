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🛢  Hydrocarbon Tank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7EC8E3"/>
                </a:solidFill>
              </a:rPr>
              <a:t>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End-to-End Automated Pipeline  |  SAP BTP + IS-OIL OGS/650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37560"/>
            <a:ext cx="3657600" cy="45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From tank gauge reading to S/4HANA material document — fully automated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SAP BTP  ·  CAP  ·  n8n  ·  React  ·  IS-OIL HPM  ·  Cloud Connector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Why manual reconciliation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Hydrocarbon Tank Stock Reconciliation  |  SAP BTP + IS-OIL OGS/650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Every day, terminal operators must answer two questions: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303520" cy="502920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"How much product is physically in the tank?"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303520" cy="502920"/>
          </a:xfrm>
          <a:prstGeom prst="rect">
            <a:avLst/>
          </a:prstGeom>
          <a:solidFill>
            <a:srgbClr val="047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"How much does SAP say should be there?"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488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The gap = Reconciliation Variance  →  undetected = financial loss, compliance risk, safety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06040"/>
            <a:ext cx="2194560" cy="347472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64261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⏱  Slow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53512"/>
            <a:ext cx="2194560" cy="138988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990088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2–4 hours of manual work
per terminal, per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2606040"/>
            <a:ext cx="2194560" cy="347472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0048" y="264261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Error-Prone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96896" y="2953512"/>
            <a:ext cx="2194560" cy="138988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88336" y="2990088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Wrong VCF table
Wrong material number
Calculation mistakes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2606040"/>
            <a:ext cx="2194560" cy="347472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264261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🔒  Not Auditable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2953512"/>
            <a:ext cx="2194560" cy="138988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2990088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Email chains &amp; spreadsheets
No tamper-evident trail
No actor/timestamp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2606040"/>
            <a:ext cx="2194560" cy="347472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64261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🧩  Fragmented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42048" y="2953512"/>
            <a:ext cx="2194560" cy="138988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2990088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Data in ATG, SAP, Excel,
and email simultaneously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4624" y="2606040"/>
            <a:ext cx="2194560" cy="347472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37776" y="2642616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📈  Not Scalable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64624" y="2953512"/>
            <a:ext cx="2194560" cy="138988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56064" y="2990088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Adding a terminal =
more manual 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572000"/>
            <a:ext cx="11338560" cy="8229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572000"/>
            <a:ext cx="73152" cy="82296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617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The hidden complexity — IS-OIL HPM extends SAP with tank-specific data (OIB_TANKDIP, strapping tables, VCF conversion) that has NO public OData APIs. Building a digital solution requires deep IS-OIL expertise.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Fully automated — from tank gauge to material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Hydrocarbon Tank Stock Reconciliation  |  SAP BTP + IS-OIL OGS/650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303520" cy="3200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051560"/>
            <a:ext cx="5303520" cy="320040"/>
          </a:xfrm>
          <a:prstGeom prst="rect">
            <a:avLst/>
          </a:prstGeom>
          <a:solidFill>
            <a:srgbClr val="188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5303520" cy="53035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0000"/>
                </a:solidFill>
              </a:rPr>
              <a:t>✗  Operator reads dip manually, writes on 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5303520" cy="53035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8988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8425"/>
                </a:solidFill>
              </a:rPr>
              <a:t>✓  IS-OIL OIB_TANKDIP read automatically via ZTANK_DIP_SRV_SRV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417320"/>
            <a:ext cx="640080" cy="41148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4173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20240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9385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0000"/>
                </a:solidFill>
              </a:rPr>
              <a:t>✗  Book stock looked up manually in SAP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920240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385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8425"/>
                </a:solidFill>
              </a:rPr>
              <a:t>✓  RELSTOCK fetched directly from IS-OIL dip record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965960"/>
            <a:ext cx="640080" cy="41148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19659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468880"/>
            <a:ext cx="5303520" cy="53035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4871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0000"/>
                </a:solidFill>
              </a:rPr>
              <a:t>✗  VCF correction done with Excel/lookup tables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468880"/>
            <a:ext cx="5303520" cy="53035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4871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8425"/>
                </a:solidFill>
              </a:rPr>
              <a:t>✓  VCF Calculator applies automatically, ASTM fallback if needed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2514600"/>
            <a:ext cx="640080" cy="41148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25146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017520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0358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0000"/>
                </a:solidFill>
              </a:rPr>
              <a:t>✗  Delta calculated in spreadsheet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017520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0358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8425"/>
                </a:solidFill>
              </a:rPr>
              <a:t>✓  Variance Engine computes delta and classifies in milliseconds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063239"/>
            <a:ext cx="640080" cy="41148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306323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566160"/>
            <a:ext cx="5303520" cy="53035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8444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0000"/>
                </a:solidFill>
              </a:rPr>
              <a:t>✗  Supervisor approval via email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566160"/>
            <a:ext cx="5303520" cy="53035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58444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8425"/>
                </a:solidFill>
              </a:rPr>
              <a:t>✓  Approval Queue in CAP dashboard with full audit record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3611880"/>
            <a:ext cx="640080" cy="41148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3611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114800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133087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0000"/>
                </a:solidFill>
              </a:rPr>
              <a:t>✗  Goods movement posted manually in MIGO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114800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133087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8425"/>
                </a:solidFill>
              </a:rPr>
              <a:t>✓  Material Document created automatically via API_MATERIAL_DOCUMENT_SRV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4160520"/>
            <a:ext cx="640080" cy="41148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0" y="41605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663440"/>
            <a:ext cx="5303520" cy="53035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681727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0000"/>
                </a:solidFill>
              </a:rPr>
              <a:t>✗  Report emailed manually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663440"/>
            <a:ext cx="5303520" cy="53035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4681727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8425"/>
                </a:solidFill>
              </a:rPr>
              <a:t>✓  PDF generated and sent to Email + MS Teams automatically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4709159"/>
            <a:ext cx="640080" cy="41148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4709159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212080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230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0000"/>
                </a:solidFill>
              </a:rPr>
              <a:t>✗  No audit trail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5212080"/>
            <a:ext cx="5303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52303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8425"/>
                </a:solidFill>
              </a:rPr>
              <a:t>✓  Every milestone, decision and posting recorded with timestamp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5257800"/>
            <a:ext cx="640080" cy="41148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0" y="52578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Three layers working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Hydrocarbon Tank Stock Reconciliation  |  SAP BTP + IS-OIL OGS/650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3200400" cy="5029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3200400" cy="36576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247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🏭  Layer 1 — OGS/650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IS-OIL S/4HANA Private Cloud
(Source of Truth)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57400"/>
            <a:ext cx="3017520" cy="347472"/>
          </a:xfrm>
          <a:prstGeom prst="rect">
            <a:avLst/>
          </a:prstGeom>
          <a:solidFill>
            <a:srgbClr val="047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093976"/>
            <a:ext cx="2871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🛢 OIB_TANKDIP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04872"/>
            <a:ext cx="30175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41448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Physical dip readings
Book stock (RELSTOCK)
SOCNR-based tank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46120"/>
            <a:ext cx="3017520" cy="347472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282696"/>
            <a:ext cx="2871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📡 ZTANK_DIP_SRV_SRV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93591"/>
            <a:ext cx="30175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630168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Custom OData Service
Exposes dip data to BTP
(built from scratch)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43400"/>
            <a:ext cx="3017520" cy="347472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379976"/>
            <a:ext cx="2871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🔧 Z_TANK_RECON_TRIGGER_RUN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90872"/>
            <a:ext cx="301752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727448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ABAP FM to trigger BTP
Fetches XSUAA token
Calls CAP endpoint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017520"/>
            <a:ext cx="1371600" cy="45720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3035808"/>
            <a:ext cx="1335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☁  Cloud
Connector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493008"/>
            <a:ext cx="13350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</a:rPr>
              <a:t>APAC_DEV10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6E00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1097280"/>
            <a:ext cx="4114800" cy="5029200"/>
          </a:xfrm>
          <a:prstGeom prst="rect">
            <a:avLst/>
          </a:prstGeom>
          <a:solidFill>
            <a:srgbClr val="F0F8F0"/>
          </a:solidFill>
          <a:ln w="12700">
            <a:solidFill>
              <a:srgbClr val="188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0" y="1097280"/>
            <a:ext cx="4114800" cy="365760"/>
          </a:xfrm>
          <a:prstGeom prst="rect">
            <a:avLst/>
          </a:prstGeom>
          <a:solidFill>
            <a:srgbClr val="188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11247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⚙️  Layer 2 — SAP BTP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1508760"/>
            <a:ext cx="3840480" cy="347472"/>
          </a:xfrm>
          <a:prstGeom prst="rect">
            <a:avLst/>
          </a:prstGeom>
          <a:solidFill>
            <a:srgbClr val="047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02352" y="1545336"/>
            <a:ext cx="3694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🔄 n8n Workflow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1856231"/>
            <a:ext cx="3840480" cy="129844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1892807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1. Fetch IS-OIL dip data
2. VCF correction
3. Variance calculation
4. Post Material Document
5. Send alerts &amp; PDF report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246120"/>
            <a:ext cx="3840480" cy="347472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02352" y="3282696"/>
            <a:ext cx="3694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📦 CAP Application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593591"/>
            <a:ext cx="3840480" cy="129844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630168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Stores all run history
Stores variance records
Approval state machine
Full audit trail (M1-M6)
OData APIs for dashboard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983480"/>
            <a:ext cx="3840480" cy="347472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02352" y="5020056"/>
            <a:ext cx="3694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🔐 XSUAA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5330952"/>
            <a:ext cx="3840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5367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Role-based access control
M2M token for OGS calls
User auth for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88425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81160" y="1097280"/>
            <a:ext cx="2743200" cy="5029200"/>
          </a:xfrm>
          <a:prstGeom prst="rect">
            <a:avLst/>
          </a:prstGeom>
          <a:solidFill>
            <a:srgbClr val="FDF5E8"/>
          </a:solidFill>
          <a:ln w="12700">
            <a:solidFill>
              <a:srgbClr val="E7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81160" y="1097280"/>
            <a:ext cx="2743200" cy="36576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1124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👁  Layer 3 — Dashboard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1508760"/>
            <a:ext cx="2468880" cy="347472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45752" y="154533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Dashboard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72600" y="1856231"/>
            <a:ext cx="24688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64040" y="1892807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All roles — run status
KPI tiles, variance 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2514600"/>
            <a:ext cx="2468880" cy="347472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5752" y="255117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✅ Approval Queue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72600" y="2862072"/>
            <a:ext cx="24688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64040" y="2898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Supervisor only
Approve / Reject URGENT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3429000"/>
            <a:ext cx="2468880" cy="347472"/>
          </a:xfrm>
          <a:prstGeom prst="rect">
            <a:avLst/>
          </a:prstGeom>
          <a:solidFill>
            <a:srgbClr val="047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5752" y="346557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📋 Audit Trail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3776472"/>
            <a:ext cx="24688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64040" y="3813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All roles — read only
M1–M6 milestones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72600" y="4343400"/>
            <a:ext cx="2468880" cy="347472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45752" y="437997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⚙️ Configuration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72600" y="4690872"/>
            <a:ext cx="24688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64040" y="4727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Admin only
Tank thresholds CRUD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72600" y="5257800"/>
            <a:ext cx="2468880" cy="347472"/>
          </a:xfrm>
          <a:prstGeom prst="rect">
            <a:avLst/>
          </a:prstGeom>
          <a:solidFill>
            <a:srgbClr val="047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45752" y="529437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💬 AI Assistant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72600" y="5605272"/>
            <a:ext cx="2468880" cy="429768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64040" y="5641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All roles
Chat with reconciliation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Flow — 6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From dip reading to report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Hydrocarbon Tank Stock Reconciliation  |  SAP BTP + IS-OIL OGS/650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3749039" cy="502920"/>
          </a:xfrm>
          <a:prstGeom prst="rect">
            <a:avLst/>
          </a:prstGeom>
          <a:solidFill>
            <a:srgbClr val="047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188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Ingestion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600200"/>
            <a:ext cx="3749039" cy="2103120"/>
          </a:xfrm>
          <a:prstGeom prst="rect">
            <a:avLst/>
          </a:prstGeom>
          <a:solidFill>
            <a:srgbClr val="F5F5F5"/>
          </a:solidFill>
          <a:ln w="10160">
            <a:solidFill>
              <a:srgbClr val="047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Read OIB_TANKDIP via ZTANK_DIP_SRV_SRV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5856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Physical qty (QUAN_SKU) + Book stock (RELSTOCK)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25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Missing dip → halt + URGENT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234439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097280"/>
            <a:ext cx="3749039" cy="502920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143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1188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VCF Correction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600200"/>
            <a:ext cx="3749039" cy="2103120"/>
          </a:xfrm>
          <a:prstGeom prst="rect">
            <a:avLst/>
          </a:prstGeom>
          <a:solidFill>
            <a:srgbClr val="F5F5F5"/>
          </a:solidFill>
          <a:ln w="1016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69164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Convert gross → net standard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25856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Hydrocarbon Qty Conversion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825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ASTM D1250 fallback if API unavailable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1234439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097280"/>
            <a:ext cx="3749039" cy="50292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1430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1188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Variance Calculation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1600200"/>
            <a:ext cx="3749039" cy="2103120"/>
          </a:xfrm>
          <a:prstGeom prst="rect">
            <a:avLst/>
          </a:prstGeom>
          <a:solidFill>
            <a:srgbClr val="F5F5F5"/>
          </a:solidFill>
          <a:ln w="10160"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69164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Delta = Physical − Book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25856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OK (≤0.10%)  FLAG (≤0.25%)  URGENT (&gt;0.25%)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25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Per-tank configurable thresholds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794760"/>
            <a:ext cx="3749039" cy="5029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8404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3886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Approval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297680"/>
            <a:ext cx="3749039" cy="2103120"/>
          </a:xfrm>
          <a:prstGeom prst="rect">
            <a:avLst/>
          </a:prstGeom>
          <a:solidFill>
            <a:srgbClr val="F5F5F5"/>
          </a:solidFill>
          <a:ln w="10160">
            <a:solidFill>
              <a:srgbClr val="E7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38912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URGENT tanks held in 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Supervisor: Approve or Reject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52297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No posting without approval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39319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3794760"/>
            <a:ext cx="3749039" cy="502920"/>
          </a:xfrm>
          <a:prstGeom prst="rect">
            <a:avLst/>
          </a:prstGeom>
          <a:solidFill>
            <a:srgbClr val="188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38404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4607" y="3886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Goods Movement Posting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4297680"/>
            <a:ext cx="3749039" cy="2103120"/>
          </a:xfrm>
          <a:prstGeom prst="rect">
            <a:avLst/>
          </a:prstGeom>
          <a:solidFill>
            <a:srgbClr val="F5F5F5"/>
          </a:solidFill>
          <a:ln w="10160">
            <a:solidFill>
              <a:srgbClr val="188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400" y="438912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OK/FLAG: auto-post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URGENT: post after approval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52297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551=shrinkage  552=gain  Doc ID written 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9319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3794760"/>
            <a:ext cx="3749039" cy="502920"/>
          </a:xfrm>
          <a:prstGeom prst="rect">
            <a:avLst/>
          </a:prstGeom>
          <a:solidFill>
            <a:srgbClr val="047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19" y="38404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42248" y="3886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Report Distribution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4297680"/>
            <a:ext cx="3749039" cy="2103120"/>
          </a:xfrm>
          <a:prstGeom prst="rect">
            <a:avLst/>
          </a:prstGeom>
          <a:solidFill>
            <a:srgbClr val="F5F5F5"/>
          </a:solidFill>
          <a:ln w="10160">
            <a:solidFill>
              <a:srgbClr val="047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438912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Per-tank PDF generated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Email + MS Teams distribution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552297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 BTP Alert Notification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Challenges We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Real obstacles — and how we solved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Hydrocarbon Tank Stock Reconciliation  |  SAP BTP + IS-OIL OGS/650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" cy="1188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B6E"/>
                </a:solidFill>
              </a:rPr>
              <a:t>🔌  IS-OIL has no public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 OData for OIB_TANKDIP. Built ZTANK_DIP_SRV_SRV from scratch using SEGW + OIIC_DIP_READ_TANKDIPS FM.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188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B6E"/>
                </a:solidFill>
              </a:rPr>
              <a:t>💻  SAP GUI crashes on Mac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SE37/SE38 threw CNTL_ERROR on macOS. Switched to web-based SAP GUI to write ABAP.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68880"/>
            <a:ext cx="55778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468880"/>
            <a:ext cx="73152" cy="1188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B6E"/>
                </a:solidFill>
              </a:rPr>
              <a:t>🌐  Cloud Connector proxy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ECONNREFUSED → 503 → 501 → 200. Fixed by adding Proxy-Authorization + SAP-Connectivity-SCC-Location_ID headers.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68880"/>
            <a:ext cx="55778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468880"/>
            <a:ext cx="73152" cy="1188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B6E"/>
                </a:solidFill>
              </a:rPr>
              <a:t>🔐  XSUAA tenant mode 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80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tenant-mode: shared blocked AppRouter. Fixed via UAA_SERVICE_NAME + TENANT_HOST_PATTERN env vars.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55778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73152" cy="1188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B6E"/>
                </a:solidFill>
              </a:rPr>
              <a:t>🔍  OData filter case sensitivity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'Socnr' vs 'SOCNR' — all tanks returned same wrong record. Fixed ABAP CASE statement to use uppercase.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94760"/>
            <a:ext cx="55778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94760"/>
            <a:ext cx="73152" cy="1188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B6E"/>
                </a:solidFill>
              </a:rPr>
              <a:t>🗺  IS-OIL data model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No docs for plant/location → SOCNR mapping. Traced through OIISOCISL, OIISOCK, and FM parameters to find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5120640"/>
            <a:ext cx="557784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98648" y="5120640"/>
            <a:ext cx="73152" cy="1188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81528" y="516635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B6E"/>
                </a:solidFill>
              </a:rPr>
              <a:t>🔑  OA2C_CONFIG unreachable on Mac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81528" y="55321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OAuth config redirects to browser — not accessible. Built ABAP FM with full client credentials flow instead.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What we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Hydrocarbon Tank Stock Reconciliation  |  SAP BTP + IS-OIL OGS/650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188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" cy="1188720"/>
          </a:xfrm>
          <a:prstGeom prst="rect">
            <a:avLst/>
          </a:prstGeom>
          <a:solidFill>
            <a:srgbClr val="188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88425"/>
                </a:solidFill>
              </a:rPr>
              <a:t>✅  First IS-OIL → BTP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Live OIB_TANKDIP data flowing from OGS/650 to BTP via Cloud Connector. Verified against source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188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188720"/>
          </a:xfrm>
          <a:prstGeom prst="rect">
            <a:avLst/>
          </a:prstGeom>
          <a:solidFill>
            <a:srgbClr val="188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88425"/>
                </a:solidFill>
              </a:rPr>
              <a:t>✅  Custom OData Services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ZTANK_DIP_SRV_SRV + ZTANK_PLANT_SRV_SRV built in OGS/650 — IS-OIL data exposed as OData for the first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68880"/>
            <a:ext cx="5577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047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468880"/>
            <a:ext cx="73152" cy="1188720"/>
          </a:xfrm>
          <a:prstGeom prst="rect">
            <a:avLst/>
          </a:prstGeom>
          <a:solidFill>
            <a:srgbClr val="047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47D9C"/>
                </a:solidFill>
              </a:rPr>
              <a:t>✅  OGS → BTP M2M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Z_TANK_RECON_TRIGGER_RUN ABAP FM: fetches XSUAA token, calls BTP CAP — IS-OIL triggers BTP directly.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68880"/>
            <a:ext cx="5577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468880"/>
            <a:ext cx="73152" cy="1188720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DC1"/>
                </a:solidFill>
              </a:rPr>
              <a:t>✅  Full Approval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80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URGENT variances held in CAP state machine. No Material Document posted without supervisor sign-off.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5577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00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73152" cy="118872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3B6E"/>
                </a:solidFill>
              </a:rPr>
              <a:t>✅  Data Accuracy 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06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Dashboard values match OIB_TANKDIP exactly — book stock, physical qty, delta verified in SE16N.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794760"/>
            <a:ext cx="5577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006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94760"/>
            <a:ext cx="73152" cy="1188720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DC1"/>
                </a:solidFill>
              </a:rPr>
              <a:t>✅  Role-Based Access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06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XSUAA scopes + React ProtectedRoute — Approvals: Supervisor only, Config: Admin only.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5120640"/>
            <a:ext cx="5577840" cy="1188720"/>
          </a:xfrm>
          <a:prstGeom prst="rect">
            <a:avLst/>
          </a:prstGeom>
          <a:solidFill>
            <a:srgbClr val="F5F5F5"/>
          </a:solidFill>
          <a:ln w="10160">
            <a:solidFill>
              <a:srgbClr val="E7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98648" y="5120640"/>
            <a:ext cx="73152" cy="1188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81528" y="516635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76E00"/>
                </a:solidFill>
              </a:rPr>
              <a:t>⚡  2 Minutes vs. 2–4 Hours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81528" y="55321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Full reconciliation pipeline — from tank dip to audit trail — completes in under 2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</a:rPr>
              <a:t>Architecture in One Sentence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0058400" cy="4572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n8n workflow on BTP orchestrates the pipeline  →  CAP is the backbone &amp; approval state machine  →  React Dashboard is the single cockpit  →  IS-OIL OGS/650 is the source of truth  →  Cloud Connector bridges on-premise to BTP securely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1737360" cy="822960"/>
          </a:xfrm>
          <a:prstGeom prst="rect">
            <a:avLst/>
          </a:prstGeom>
          <a:solidFill>
            <a:srgbClr val="047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n8n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Orchestration
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06324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6E0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0088" y="2926080"/>
            <a:ext cx="1737360" cy="822960"/>
          </a:xfrm>
          <a:prstGeom prst="rect">
            <a:avLst/>
          </a:prstGeom>
          <a:solidFill>
            <a:srgbClr val="006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3337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Backbone &amp;
State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06324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6E0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5776" y="2926080"/>
            <a:ext cx="1737360" cy="822960"/>
          </a:xfrm>
          <a:prstGeom prst="rect">
            <a:avLst/>
          </a:prstGeom>
          <a:solidFill>
            <a:srgbClr val="E7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3337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Single
Cockpit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306324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6E0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41464" y="2926080"/>
            <a:ext cx="1737360" cy="822960"/>
          </a:xfrm>
          <a:prstGeom prst="rect">
            <a:avLst/>
          </a:prstGeom>
          <a:solidFill>
            <a:srgbClr val="188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IS-OIL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3337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Source of
Truth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3063240"/>
            <a:ext cx="33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76E0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17152" y="2926080"/>
            <a:ext cx="1737360" cy="822960"/>
          </a:xfrm>
          <a:prstGeom prst="rect">
            <a:avLst/>
          </a:prstGeom>
          <a:solidFill>
            <a:srgbClr val="00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29718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Cloud
Connector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33375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Secure
Bridge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Hydrocarbon Tank Stock Reconciliation  |  SAP BTP + IS-OIL OGS/650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