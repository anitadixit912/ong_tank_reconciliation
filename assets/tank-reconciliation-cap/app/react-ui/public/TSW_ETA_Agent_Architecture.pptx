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16000"/>
            <a:ext cx="11520000" cy="503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TSW ETA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756000"/>
            <a:ext cx="1152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D4EC"/>
                </a:solidFill>
              </a:rPr>
              <a:t>Architecture  ·  Data Flow  ·  System Integration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16000"/>
            <a:ext cx="11520000" cy="36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8000" y="1224000"/>
            <a:ext cx="3671999" cy="1260000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000" y="1267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0A3E0"/>
                </a:solidFill>
              </a:rPr>
              <a:t>2 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483200"/>
            <a:ext cx="3563999" cy="9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D4EC"/>
                </a:solidFill>
              </a:rPr>
              <a:t>Nomination ETA Agent
Tank Reconciliation Agent</a:t>
            </a:r>
          </a:p>
        </p:txBody>
      </p:sp>
      <p:sp>
        <p:nvSpPr>
          <p:cNvPr id="9" name="Oval 8"/>
          <p:cNvSpPr/>
          <p:nvPr/>
        </p:nvSpPr>
        <p:spPr>
          <a:xfrm>
            <a:off x="4212000" y="1224000"/>
            <a:ext cx="3671999" cy="1260000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6000" y="1267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0A3E0"/>
                </a:solidFill>
              </a:rPr>
              <a:t>5 Live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6000" y="1483200"/>
            <a:ext cx="3563999" cy="9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D4EC"/>
                </a:solidFill>
              </a:rPr>
              <a:t>S/4 HANA · AIS Tracking · GDELT
BTP Services · TSW OData</a:t>
            </a:r>
          </a:p>
        </p:txBody>
      </p:sp>
      <p:sp>
        <p:nvSpPr>
          <p:cNvPr id="12" name="Oval 11"/>
          <p:cNvSpPr/>
          <p:nvPr/>
        </p:nvSpPr>
        <p:spPr>
          <a:xfrm>
            <a:off x="8135999" y="1224000"/>
            <a:ext cx="3671999" cy="1260000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9999" y="1267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0A3E0"/>
                </a:solidFill>
              </a:rPr>
              <a:t>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9999" y="1483200"/>
            <a:ext cx="3563999" cy="95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D4EC"/>
                </a:solidFill>
              </a:rPr>
              <a:t>Open nomination →
Approved ETA in SAP TSW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2628000"/>
            <a:ext cx="1152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B0D4EC"/>
                </a:solidFill>
              </a:rPr>
              <a:t>The TSW ETA Agent combines live AIS vessel tracking, GDELT geopolitical risk intelligence, carrier performance analysis and historical voyage patterns to propose risk-adjusted ETAs for SAP TSW nominations.  The Tank Reconciliation Agent automates ATG gauge ingestion, VCF temperature correction, variance classification and SAP S/4 HANA HPM goods movement posting.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528000"/>
            <a:ext cx="3671999" cy="324000"/>
          </a:xfrm>
          <a:prstGeom prst="rect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3564000"/>
            <a:ext cx="3527999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Python  ·  LangGraph  ·  LangChain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2000" y="3528000"/>
            <a:ext cx="3671999" cy="324000"/>
          </a:xfrm>
          <a:prstGeom prst="rect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3999" y="3564000"/>
            <a:ext cx="3527999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SAP BTP  Cloud Foundry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5999" y="3528000"/>
            <a:ext cx="3671999" cy="324000"/>
          </a:xfrm>
          <a:prstGeom prst="rect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7999" y="3564000"/>
            <a:ext cx="3527999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SAP AI Core  (GPT-4o)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3924000"/>
            <a:ext cx="3671999" cy="324000"/>
          </a:xfrm>
          <a:prstGeom prst="rect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3960000"/>
            <a:ext cx="3527999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OData v2/v4  ·  REST APIs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2000" y="3924000"/>
            <a:ext cx="3671999" cy="324000"/>
          </a:xfrm>
          <a:prstGeom prst="rect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3999" y="3960000"/>
            <a:ext cx="3527999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React  +  SAP UI5 Web Components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5999" y="3924000"/>
            <a:ext cx="3671999" cy="324000"/>
          </a:xfrm>
          <a:prstGeom prst="rect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7999" y="3960000"/>
            <a:ext cx="3527999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n8n  Workflow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80000" y="66239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1A3A55"/>
                </a:solidFill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80000"/>
            <a:ext cx="1152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TSW ETA Agent — 9-Step Intelligence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52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D4EC"/>
                </a:solidFill>
              </a:rPr>
              <a:t>All 6 data-gathering steps run automatically without stopping  ·  Supervisor approves every final 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990000"/>
            <a:ext cx="11520000" cy="36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8000" y="1080000"/>
            <a:ext cx="3671999" cy="1800000"/>
          </a:xfrm>
          <a:prstGeom prst="ellipse">
            <a:avLst/>
          </a:prstGeom>
          <a:solidFill>
            <a:srgbClr val="00A3E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000" y="1123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1  ·  Fetch Nomination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339200"/>
            <a:ext cx="3563999" cy="149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get_nomination
Extracts: Location, Material, Transport
System, Scheduled Date, Carrier</a:t>
            </a:r>
          </a:p>
        </p:txBody>
      </p:sp>
      <p:sp>
        <p:nvSpPr>
          <p:cNvPr id="9" name="Oval 8"/>
          <p:cNvSpPr/>
          <p:nvPr/>
        </p:nvSpPr>
        <p:spPr>
          <a:xfrm>
            <a:off x="4212000" y="1080000"/>
            <a:ext cx="3671999" cy="1800000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6000" y="1123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2  ·  Live Vessel (AIS)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6000" y="1339200"/>
            <a:ext cx="3563999" cy="149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get_port_vessel_etas
myshiptracking_lookup
Live ETA UTC from AIS transponder</a:t>
            </a:r>
          </a:p>
        </p:txBody>
      </p:sp>
      <p:sp>
        <p:nvSpPr>
          <p:cNvPr id="12" name="Oval 11"/>
          <p:cNvSpPr/>
          <p:nvPr/>
        </p:nvSpPr>
        <p:spPr>
          <a:xfrm>
            <a:off x="8135999" y="1080000"/>
            <a:ext cx="3671999" cy="1800000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9999" y="1123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3  ·  Historical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9999" y="1339200"/>
            <a:ext cx="3563999" cy="149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get_nomination_history
Avg lead-time days by
material × location × transport</a:t>
            </a:r>
          </a:p>
        </p:txBody>
      </p:sp>
      <p:sp>
        <p:nvSpPr>
          <p:cNvPr id="15" name="Oval 14"/>
          <p:cNvSpPr/>
          <p:nvPr/>
        </p:nvSpPr>
        <p:spPr>
          <a:xfrm>
            <a:off x="288000" y="3024000"/>
            <a:ext cx="3671999" cy="1800000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000" y="3067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4  ·  Carrier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3283200"/>
            <a:ext cx="3563999" cy="149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analyze_carrier_performance
Avg delay days  ·  on-time %
for this carrier code</a:t>
            </a:r>
          </a:p>
        </p:txBody>
      </p:sp>
      <p:sp>
        <p:nvSpPr>
          <p:cNvPr id="18" name="Oval 17"/>
          <p:cNvSpPr/>
          <p:nvPr/>
        </p:nvSpPr>
        <p:spPr>
          <a:xfrm>
            <a:off x="4212000" y="3024000"/>
            <a:ext cx="3671999" cy="1800000"/>
          </a:xfrm>
          <a:prstGeom prst="ellipse">
            <a:avLst/>
          </a:prstGeom>
          <a:solidFill>
            <a:srgbClr val="1A3A55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6000" y="3067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5  ·  Geopolitical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6000" y="3283200"/>
            <a:ext cx="3563999" cy="149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get_geopolitical_risk  (GDELT)
Risk level + buffer days
for route &amp; scheduled date</a:t>
            </a:r>
          </a:p>
        </p:txBody>
      </p:sp>
      <p:sp>
        <p:nvSpPr>
          <p:cNvPr id="21" name="Oval 20"/>
          <p:cNvSpPr/>
          <p:nvPr/>
        </p:nvSpPr>
        <p:spPr>
          <a:xfrm>
            <a:off x="8135999" y="3024000"/>
            <a:ext cx="3671999" cy="1800000"/>
          </a:xfrm>
          <a:prstGeom prst="ellipse">
            <a:avLst/>
          </a:prstGeom>
          <a:solidFill>
            <a:srgbClr val="0E3D5C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9999" y="3067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6  ·  Calculate 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9999" y="3283200"/>
            <a:ext cx="3563999" cy="149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calculate_eta_intelligence
Base ETA + carrier + seasonal
+ geo buffer = Recommended ETA</a:t>
            </a:r>
          </a:p>
        </p:txBody>
      </p:sp>
      <p:sp>
        <p:nvSpPr>
          <p:cNvPr id="24" name="Oval 23"/>
          <p:cNvSpPr/>
          <p:nvPr/>
        </p:nvSpPr>
        <p:spPr>
          <a:xfrm>
            <a:off x="288000" y="4968000"/>
            <a:ext cx="3671999" cy="180000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000" y="5011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7  ·  Present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5227200"/>
            <a:ext cx="3563999" cy="149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Markdown ETA Intelligence Report
Adjustment table  ·  Data Sources
Confidence level  ·  Approval prompt</a:t>
            </a:r>
          </a:p>
        </p:txBody>
      </p:sp>
      <p:sp>
        <p:nvSpPr>
          <p:cNvPr id="27" name="Oval 26"/>
          <p:cNvSpPr/>
          <p:nvPr/>
        </p:nvSpPr>
        <p:spPr>
          <a:xfrm>
            <a:off x="4212000" y="4968000"/>
            <a:ext cx="3671999" cy="1800000"/>
          </a:xfrm>
          <a:prstGeom prst="ellipse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6000" y="5011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8  ·  Reject / Alternatives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6000" y="5227200"/>
            <a:ext cx="3563999" cy="149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record_rejection_reason
get_nomination_history_deep
3 data-driven option table</a:t>
            </a:r>
          </a:p>
        </p:txBody>
      </p:sp>
      <p:sp>
        <p:nvSpPr>
          <p:cNvPr id="30" name="Oval 29"/>
          <p:cNvSpPr/>
          <p:nvPr/>
        </p:nvSpPr>
        <p:spPr>
          <a:xfrm>
            <a:off x="8135999" y="4968000"/>
            <a:ext cx="3671999" cy="1800000"/>
          </a:xfrm>
          <a:prstGeom prst="ellipse">
            <a:avLst/>
          </a:prstGeom>
          <a:solidFill>
            <a:srgbClr val="F0A50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9999" y="5011200"/>
            <a:ext cx="356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A3E0"/>
                </a:solidFill>
              </a:rPr>
              <a:t>STEP 9  ·  Approve &amp;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9999" y="5227200"/>
            <a:ext cx="3563999" cy="149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0D4EC"/>
                </a:solidFill>
              </a:rPr>
              <a:t>update_nomination_eta
update_nomination_events
Loading / Berthing / Discharge / Departure → SAP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80000" y="66239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1A3A55"/>
                </a:solidFill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80000"/>
            <a:ext cx="1152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52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D4EC"/>
                </a:solidFill>
              </a:rPr>
              <a:t>All connections live  ·  OData v2/v4  ·  REST/JSON  ·  SAP Cloud Connector  ·  mTLS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990000"/>
            <a:ext cx="11520000" cy="3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80000" y="1080000"/>
            <a:ext cx="4680000" cy="4320000"/>
          </a:xfrm>
          <a:prstGeom prst="rect">
            <a:avLst/>
          </a:prstGeom>
          <a:solidFill>
            <a:srgbClr val="0A1E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51999" y="1152000"/>
            <a:ext cx="453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00A3E0"/>
                </a:solidFill>
              </a:rPr>
              <a:t>SAP BTP — Cloud Foundry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8000" y="1475999"/>
            <a:ext cx="4464000" cy="288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8000" y="1548000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NominationETA Agent  (Python · LangGraph)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8000" y="1763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B0D4EC"/>
                </a:solidFill>
              </a:rPr>
              <a:t>  9-step ETA flow · AIS · GDELT · Carrier ·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8000" y="1979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8000" y="2069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TankReconciliation Agent  (Python · LangGraph)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8000" y="2285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B0D4EC"/>
                </a:solidFill>
              </a:rPr>
              <a:t>  ATG ingest · VCF calc · Variance ·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8000" y="2501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8000" y="2591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CAP Node.js Backend  +  React UI5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8000" y="2807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8000" y="2897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n8n Reconciliation Workflow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8000" y="3113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8000" y="3203999"/>
            <a:ext cx="44640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SAP AI Core  ·  GPT-4o</a:t>
            </a:r>
          </a:p>
        </p:txBody>
      </p:sp>
      <p:sp>
        <p:nvSpPr>
          <p:cNvPr id="20" name="Oval 19"/>
          <p:cNvSpPr/>
          <p:nvPr/>
        </p:nvSpPr>
        <p:spPr>
          <a:xfrm>
            <a:off x="288000" y="1080000"/>
            <a:ext cx="3348000" cy="1296000"/>
          </a:xfrm>
          <a:prstGeom prst="ellipse">
            <a:avLst/>
          </a:prstGeom>
          <a:solidFill>
            <a:srgbClr val="0D4F6E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000" y="1123200"/>
            <a:ext cx="32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SAP S/4 HANA IS-OIL / TSW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000" y="1339200"/>
            <a:ext cx="3240000" cy="99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TSW_MYNOMINATIONS_SRV_01
API_MATERIAL_STOCK_SRV
API_MATERIAL_DOCUMENT_SRV
MEASUREMENTDOCUMENT_0001</a:t>
            </a:r>
          </a:p>
        </p:txBody>
      </p:sp>
      <p:sp>
        <p:nvSpPr>
          <p:cNvPr id="23" name="Oval 22"/>
          <p:cNvSpPr/>
          <p:nvPr/>
        </p:nvSpPr>
        <p:spPr>
          <a:xfrm>
            <a:off x="288000" y="2520000"/>
            <a:ext cx="3348000" cy="1296000"/>
          </a:xfrm>
          <a:prstGeom prst="ellipse">
            <a:avLst/>
          </a:prstGeom>
          <a:solidFill>
            <a:srgbClr val="0D3A2A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000" y="2563200"/>
            <a:ext cx="32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ATG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000" y="2779200"/>
            <a:ext cx="3240000" cy="99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Automatic Tank Gauging
Real-time level readings
Electronic gauge protocol</a:t>
            </a:r>
          </a:p>
        </p:txBody>
      </p:sp>
      <p:sp>
        <p:nvSpPr>
          <p:cNvPr id="26" name="Oval 25"/>
          <p:cNvSpPr/>
          <p:nvPr/>
        </p:nvSpPr>
        <p:spPr>
          <a:xfrm>
            <a:off x="288000" y="3960000"/>
            <a:ext cx="3348000" cy="1296000"/>
          </a:xfrm>
          <a:prstGeom prst="ellipse">
            <a:avLst/>
          </a:prstGeom>
          <a:solidFill>
            <a:srgbClr val="3A2A0D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000" y="4003199"/>
            <a:ext cx="3240000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Fiori Mobile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000" y="4219200"/>
            <a:ext cx="3240000" cy="99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API_PHYSICAL_INVENTORY_DOC_SRV
Manual dip entries from field operators</a:t>
            </a:r>
          </a:p>
        </p:txBody>
      </p:sp>
      <p:sp>
        <p:nvSpPr>
          <p:cNvPr id="29" name="Oval 28"/>
          <p:cNvSpPr/>
          <p:nvPr/>
        </p:nvSpPr>
        <p:spPr>
          <a:xfrm>
            <a:off x="8640000" y="1080000"/>
            <a:ext cx="3491999" cy="1296000"/>
          </a:xfrm>
          <a:prstGeom prst="ellipse">
            <a:avLst/>
          </a:prstGeom>
          <a:solidFill>
            <a:srgbClr val="2E0D4F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94000" y="1123200"/>
            <a:ext cx="338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AIS Vessel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4000" y="1339200"/>
            <a:ext cx="3383999" cy="99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MyShipTracking API
Live vessel position &amp; ETA
IMO / MMSI lookup</a:t>
            </a:r>
          </a:p>
        </p:txBody>
      </p:sp>
      <p:sp>
        <p:nvSpPr>
          <p:cNvPr id="32" name="Oval 31"/>
          <p:cNvSpPr/>
          <p:nvPr/>
        </p:nvSpPr>
        <p:spPr>
          <a:xfrm>
            <a:off x="8640000" y="2520000"/>
            <a:ext cx="3491999" cy="1296000"/>
          </a:xfrm>
          <a:prstGeom prst="ellipse">
            <a:avLst/>
          </a:prstGeom>
          <a:solidFill>
            <a:srgbClr val="4F1A0D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94000" y="2563200"/>
            <a:ext cx="338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GDELT Geopolitical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94000" y="2779200"/>
            <a:ext cx="3383999" cy="99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Global news event scan
Strike · Hurricane · Sanction
Route risk + delay buffer</a:t>
            </a:r>
          </a:p>
        </p:txBody>
      </p:sp>
      <p:sp>
        <p:nvSpPr>
          <p:cNvPr id="35" name="Oval 34"/>
          <p:cNvSpPr/>
          <p:nvPr/>
        </p:nvSpPr>
        <p:spPr>
          <a:xfrm>
            <a:off x="8640000" y="3960000"/>
            <a:ext cx="3491999" cy="1296000"/>
          </a:xfrm>
          <a:prstGeom prst="ellipse">
            <a:avLst/>
          </a:prstGeom>
          <a:solidFill>
            <a:srgbClr val="0D404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4000" y="4003199"/>
            <a:ext cx="3383999" cy="19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A3E0"/>
                </a:solidFill>
              </a:rPr>
              <a:t>SAP BTP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4000" y="4219200"/>
            <a:ext cx="3383999" cy="99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B0D4EC"/>
                </a:solidFill>
              </a:rPr>
              <a:t>Alert Notification Service
MS Teams Webhook
Email / SMTP Distribution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00" y="5472000"/>
            <a:ext cx="11520000" cy="324000"/>
          </a:xfrm>
          <a:prstGeom prst="rect">
            <a:avLst/>
          </a:prstGeom>
          <a:solidFill>
            <a:srgbClr val="0A2030"/>
          </a:solidFill>
          <a:ln w="9525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00" y="5508000"/>
            <a:ext cx="1152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00A3E0"/>
                </a:solidFill>
              </a:rPr>
              <a:t>Connection Layer:  OData v2/v4  ·  REST/JSON  ·  SAP Cloud Connector  ·  Destination Service  ·  mTLS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80000" y="6623999"/>
            <a:ext cx="108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1A3A55"/>
                </a:solidFill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