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5"/>
  </p:normalViewPr>
  <p:slideViewPr>
    <p:cSldViewPr snapToGrid="0" snapToObjects="1">
      <p:cViewPr varScale="1">
        <p:scale>
          <a:sx n="81" d="100"/>
          <a:sy n="81" d="100"/>
        </p:scale>
        <p:origin x="216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443984"/>
            <a:ext cx="12188952" cy="2414016"/>
          </a:xfrm>
          <a:prstGeom prst="rect">
            <a:avLst/>
          </a:prstGeom>
          <a:solidFill>
            <a:srgbClr val="00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365760"/>
            <a:ext cx="1828800" cy="3474720"/>
          </a:xfrm>
          <a:prstGeom prst="rect">
            <a:avLst/>
          </a:prstGeom>
          <a:solidFill>
            <a:srgbClr val="001F44"/>
          </a:solidFill>
          <a:ln w="1905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49840" y="128016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Hydrocarbon Tank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0AB00"/>
                </a:solidFill>
              </a:rPr>
              <a:t>Reconciliation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6E2"/>
                </a:solidFill>
              </a:rPr>
              <a:t>End-to-End Automated Pipeline  |  SAP BTP + IS-OIL HPM on S/4HANA Private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5029200" cy="4572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CCFF"/>
                </a:solidFill>
              </a:rPr>
              <a:t>From dip reading to Material Document in under 2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1645920" cy="41148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709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SAP BTP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4663440"/>
            <a:ext cx="1645920" cy="41148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23160" y="4709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IS-OIL HPM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663440"/>
            <a:ext cx="1645920" cy="41148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4709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CAP + React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663440"/>
            <a:ext cx="1645920" cy="41148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9" y="4709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n8n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663440"/>
            <a:ext cx="1645920" cy="41148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4709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Cloud Connector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6E2"/>
                </a:solidFill>
              </a:rPr>
              <a:t>Terminal Operations / Supply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6E2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What we will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48640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502920" cy="10058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673352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4904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Business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928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Manual, fragmented, error-prone reconciliation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48640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0" cy="10058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1673352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4904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Solution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8928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Automated pipeline: gauge reading → SAP posting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87752"/>
            <a:ext cx="548640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587752"/>
            <a:ext cx="502920" cy="10058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284378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6609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63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IS-OIL OGS/650 | SAP BTP | React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587752"/>
            <a:ext cx="548640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587752"/>
            <a:ext cx="502920" cy="10058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284378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6609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End-to-End Flowchart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063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6 milestones from data ingestion to 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58184"/>
            <a:ext cx="548640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758184"/>
            <a:ext cx="502920" cy="10058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014216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8313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Use Cases &amp; User Roles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336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5 personas: Operator → Supervisor → Finance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758184"/>
            <a:ext cx="548640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3758184"/>
            <a:ext cx="502920" cy="10058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4014216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8313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Intelligent 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2336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AI classifications, alerts, state machine, audit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928616"/>
            <a:ext cx="548640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4928616"/>
            <a:ext cx="502920" cy="10058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518464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001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Key Achievements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04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2 hrs → 2 min  •  First IS-OIL↔BTP integration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928616"/>
            <a:ext cx="548640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4928616"/>
            <a:ext cx="502920" cy="100584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27648" y="518464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001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Technology Stack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404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Components, APIs, and integration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Manual reconciliation — fragmented, slow, error-prone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303520" cy="5074920"/>
          </a:xfrm>
          <a:prstGeom prst="rect">
            <a:avLst/>
          </a:prstGeom>
          <a:solidFill>
            <a:srgbClr val="F4F6F8"/>
          </a:solidFill>
          <a:ln w="635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303520" cy="41148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Manual Process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120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911095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  Operator physically dips tank or reads ATG gauge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286000"/>
            <a:ext cx="5120640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32257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2  Writes reading on paper / spreadsheet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97479"/>
            <a:ext cx="5120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3405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 Logs into SAP to look up book stock manually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108960"/>
            <a:ext cx="5120640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14553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4  Calculates delta using calculator or Excel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520439"/>
            <a:ext cx="5120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557015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 Applies VCF correction from printed lookup tables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31920"/>
            <a:ext cx="5120640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96849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6  Classifies variance from memory (OK/FLAG/URGENT)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343400"/>
            <a:ext cx="5120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37997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7  Emails supervisor for URGENT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754879"/>
            <a:ext cx="5120640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791455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8  Supervisor replies by email — or doesn't (delays!)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166360"/>
            <a:ext cx="5120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20293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9  Manually posts goods movement in SAP MIGO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577840"/>
            <a:ext cx="5120640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61441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 Updates shared spreadsheet, emails report to Finance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325880"/>
            <a:ext cx="5833872" cy="2331720"/>
          </a:xfrm>
          <a:prstGeom prst="rect">
            <a:avLst/>
          </a:prstGeom>
          <a:solidFill>
            <a:srgbClr val="FFF0F0"/>
          </a:solidFill>
          <a:ln w="10160">
            <a:solidFill>
              <a:srgbClr val="BB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1325880"/>
            <a:ext cx="5833872" cy="41148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Consequences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1874519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1929384"/>
            <a:ext cx="5120640" cy="256032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1938527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2–4 hours per terminal per 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2677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2322576"/>
            <a:ext cx="5120640" cy="256032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0" y="23317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Error-prone — wrong VCF table, wrong material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2660903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2715768"/>
            <a:ext cx="5120640" cy="256032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0" y="2724911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 audit trail — email chains are not tamper-evident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0540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3108960"/>
            <a:ext cx="5120640" cy="256032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0" y="3118103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URGENT variances sit unresolved for hours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44728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3502151"/>
            <a:ext cx="512064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3511295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Data split across ATG, SAP, spreadsheets, email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840480"/>
            <a:ext cx="5833872" cy="2560320"/>
          </a:xfrm>
          <a:prstGeom prst="rect">
            <a:avLst/>
          </a:prstGeom>
          <a:solidFill>
            <a:srgbClr val="E8F0F8"/>
          </a:solidFill>
          <a:ln w="1016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35040" y="3840480"/>
            <a:ext cx="5833872" cy="41148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17920" y="3886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Hidden Complexity — IS-OIL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44074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3366"/>
                </a:solidFill>
              </a:rPr>
              <a:t>• Standard SAP has no concept of a 'tank'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79145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3366"/>
                </a:solidFill>
              </a:rPr>
              <a:t>• IS-OIL HPM extends S/4HANA with tank master data,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517550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3366"/>
                </a:solidFill>
              </a:rPr>
              <a:t>dip history, strapping tables &amp; VCF conversion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555955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3366"/>
                </a:solidFill>
              </a:rPr>
              <a:t>• None of this is exposed via standard public OData APIs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59436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3366"/>
                </a:solidFill>
              </a:rPr>
              <a:t>• Requires deep ABAP knowledge of IS-OIL internals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What changed — before vs.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349240" cy="41148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44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BEFORE  (Manual)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298448"/>
            <a:ext cx="5833872" cy="41148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3441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AFTER  (Automated)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298448"/>
            <a:ext cx="228600" cy="41148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783080"/>
            <a:ext cx="5349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9320" y="1783080"/>
            <a:ext cx="583387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0" y="1783080"/>
            <a:ext cx="228600" cy="5029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837943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0021"/>
                </a:solidFill>
              </a:rPr>
              <a:t>✗  Operator reads dip manually, writes on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37943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7E3E"/>
                </a:solidFill>
              </a:rPr>
              <a:t>✓  IS-OIL OIB_TANKDIP read automatically via custom OData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50008"/>
            <a:ext cx="5349240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89320" y="2350008"/>
            <a:ext cx="5833872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0" y="2350008"/>
            <a:ext cx="228600" cy="5029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4048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0021"/>
                </a:solidFill>
              </a:rPr>
              <a:t>✗  Book stock looked up manually in SAP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404872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7E3E"/>
                </a:solidFill>
              </a:rPr>
              <a:t>✓  RELSTOCK fetched directly from IS-OIL dip record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16936"/>
            <a:ext cx="5349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0" y="2916936"/>
            <a:ext cx="583387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0" y="2916936"/>
            <a:ext cx="228600" cy="5029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9718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0021"/>
                </a:solidFill>
              </a:rPr>
              <a:t>✗  VCF correction done with Excel/lookup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297180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7E3E"/>
                </a:solidFill>
              </a:rPr>
              <a:t>✓  VCF Calculator applies automatically; ASTM fallback if API unavailable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83863"/>
            <a:ext cx="5349240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89320" y="3483863"/>
            <a:ext cx="5833872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0720" y="3483863"/>
            <a:ext cx="228600" cy="5029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538727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0021"/>
                </a:solidFill>
              </a:rPr>
              <a:t>✗  Delta calculated in spreadsheet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3538727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7E3E"/>
                </a:solidFill>
              </a:rPr>
              <a:t>✓  Variance Engine computes delta and classifies in milliseconds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050791"/>
            <a:ext cx="5349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89320" y="4050791"/>
            <a:ext cx="583387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760720" y="4050791"/>
            <a:ext cx="228600" cy="5029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105655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0021"/>
                </a:solidFill>
              </a:rPr>
              <a:t>✗  Supervisor approval via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4105655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7E3E"/>
                </a:solidFill>
              </a:rPr>
              <a:t>✓  Approval Queue in CAP dashboard with full audit record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617720"/>
            <a:ext cx="5349240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89320" y="4617720"/>
            <a:ext cx="5833872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760720" y="4617720"/>
            <a:ext cx="228600" cy="5029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672583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0021"/>
                </a:solidFill>
              </a:rPr>
              <a:t>✗  Goods movement posted manually in MIGO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8192" y="4672583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7E3E"/>
                </a:solidFill>
              </a:rPr>
              <a:t>✓  Material Document created automatically via API_MATERIAL_DOCUMENT_SRV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184648"/>
            <a:ext cx="5349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89320" y="5184648"/>
            <a:ext cx="583387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60720" y="5184648"/>
            <a:ext cx="228600" cy="5029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52395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0021"/>
                </a:solidFill>
              </a:rPr>
              <a:t>✗  Report emailed manually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08192" y="5239512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7E3E"/>
                </a:solidFill>
              </a:rPr>
              <a:t>✓  PDF generated and distributed to Email + MS Teams automatically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751576"/>
            <a:ext cx="5349240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89320" y="5751576"/>
            <a:ext cx="5833872" cy="502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760720" y="5751576"/>
            <a:ext cx="228600" cy="5029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5806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0021"/>
                </a:solidFill>
              </a:rPr>
              <a:t>✗  No audit trail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08192" y="580644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7E3E"/>
                </a:solidFill>
              </a:rPr>
              <a:t>✓  Every milestone, decision &amp; posting recorded with timestamp &amp; actor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6236208"/>
            <a:ext cx="11548872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" y="6126480"/>
            <a:ext cx="27432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1479" y="6144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B00"/>
                </a:solidFill>
              </a:rPr>
              <a:t>2–4 hrs → &lt;2 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79" y="6391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Daily reconciliation time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46120" y="6126480"/>
            <a:ext cx="27432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37560" y="6144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B00"/>
                </a:solidFill>
              </a:rPr>
              <a:t>Zero manual steps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7560" y="6391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For within-tolerance tanks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6126480"/>
            <a:ext cx="27432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63640" y="6144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B00"/>
                </a:solidFill>
              </a:rPr>
              <a:t>100% audit coverage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6391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Every action timestamped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98280" y="6126480"/>
            <a:ext cx="27432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189720" y="6144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B00"/>
                </a:solidFill>
              </a:rPr>
              <a:t>Real-time alerts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9720" y="6391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OK / FLAG / URGENT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Three layers — IS-OIL OGS/650 | SAP BTP | React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2103120"/>
          </a:xfrm>
          <a:prstGeom prst="rect">
            <a:avLst/>
          </a:prstGeom>
          <a:solidFill>
            <a:srgbClr val="F4F6F8"/>
          </a:solidFill>
          <a:ln w="15240">
            <a:solidFill>
              <a:srgbClr val="BB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11731752" cy="384048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 1 — Field / IS-OIL OGS/650 (Source of Truth)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29967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OIB_TANKDIP table — live tank dip readings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7743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ZTANK_DIP_SRV_SRV — custom OData (TankDipSet, ReasonCodeSet, NominationSet)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24911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ZTANK_PLANT_SRV_SRV — plant/terminal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29967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ZTANK_POST_SRV_SRV — goods movement posting via IS-OIL BAPIs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3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Z_TANK_RECON_TRIGGER_RUN — ABAP FM for OGS → BTP M2M trigger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67912"/>
            <a:ext cx="11731752" cy="2103120"/>
          </a:xfrm>
          <a:prstGeom prst="rect">
            <a:avLst/>
          </a:prstGeom>
          <a:solidFill>
            <a:srgbClr val="F4F6F8"/>
          </a:solidFill>
          <a:ln w="1524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" y="3867912"/>
            <a:ext cx="11731752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904487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 2 — SAP BTP (Automation Engine)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616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n8n Workflow — orchestrates all 6 milestones 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70915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CAP Node.js Application — persistent backbone: runs, variances, approvals, audit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56631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XSUAA — role-based access control (4 roles: User / Approver / Admin / 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3616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BTP Alert Notification Service — push alerts to Finance &amp; Supervisor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5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Cloud Connector (APAC_DEV10) — secure tunnel to on-premise OGS/650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6199632"/>
            <a:ext cx="11731752" cy="2103120"/>
          </a:xfrm>
          <a:prstGeom prst="rect">
            <a:avLst/>
          </a:prstGeom>
          <a:solidFill>
            <a:srgbClr val="F4F6F8"/>
          </a:solidFill>
          <a:ln w="15240">
            <a:solidFill>
              <a:srgbClr val="10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8600" y="6199632"/>
            <a:ext cx="11731752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2362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 3 — React Dashboard (Single Cockpit)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6934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Dashboard — live run status &amp; per-tank results (all roles)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7040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Approval Queue — URGENT variance review (Supervisor only)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73883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Tank Detail — VCF-corrected volumes, delta, audit drill-down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66934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Audit Trail — complete M1→M6 history with timestamps &amp; actors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7040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Trend Chart — 30-day variance history per tank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73883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AI Chat — natural-language query interface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3364992"/>
            <a:ext cx="1417320" cy="32004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13248" y="34015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Cloud Connector  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5193792"/>
            <a:ext cx="1417320" cy="32004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13248" y="5230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OData / REST 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2011680"/>
            <a:ext cx="2926080" cy="4343400"/>
          </a:xfrm>
          <a:prstGeom prst="rect">
            <a:avLst/>
          </a:prstGeom>
          <a:solidFill>
            <a:srgbClr val="E8F0F8"/>
          </a:solidFill>
          <a:ln w="10160"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61120" y="2011680"/>
            <a:ext cx="2926080" cy="34747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52560" y="20391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S/4HANA APIs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245059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DD7"/>
                </a:solidFill>
              </a:rPr>
              <a:t>API_MATERIAL_STOCK_SRV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271576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6688"/>
                </a:solidFill>
              </a:rPr>
              <a:t>(HPM Book Stock)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298094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52560" y="32461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DD7"/>
                </a:solidFill>
              </a:rPr>
              <a:t>API_PHYSICAL_INVENTORY_DOC_SRV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51129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6688"/>
                </a:solidFill>
              </a:rPr>
              <a:t>(Fiori Dip Entries)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77647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52560" y="404164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DD7"/>
                </a:solidFill>
              </a:rPr>
              <a:t>MEASUREMENTDOCUMENT_0001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30682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6688"/>
                </a:solidFill>
              </a:rPr>
              <a:t>(Tank Master + Strapping)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45720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52560" y="483717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DD7"/>
                </a:solidFill>
              </a:rPr>
              <a:t>API_MATERIAL_DOCUMENT_SRV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1023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6688"/>
                </a:solidFill>
              </a:rPr>
              <a:t>(Goods Movement POST)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536752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52560" y="563270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DD7"/>
                </a:solidFill>
              </a:rPr>
              <a:t>Hydrocarbon Qty Conv. REST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897879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6688"/>
                </a:solidFill>
              </a:rPr>
              <a:t>(VCF Calculation)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Flow — 6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From tank gauge reading to Material Document and PDF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664208" cy="114300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5" y="14721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764792"/>
            <a:ext cx="1591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
Ingestion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4248" y="1924812"/>
            <a:ext cx="182880" cy="12801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67128" y="1417320"/>
            <a:ext cx="1664208" cy="114300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03704" y="14721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1764792"/>
            <a:ext cx="1591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VCF
Correction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1336" y="1924812"/>
            <a:ext cx="182880" cy="12801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14215" y="1417320"/>
            <a:ext cx="1664208" cy="114300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50791" y="14721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3" y="1764792"/>
            <a:ext cx="1591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Variance
Calculation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78424" y="1924812"/>
            <a:ext cx="182880" cy="12801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61304" y="1417320"/>
            <a:ext cx="1664208" cy="114300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7880" y="14721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9592" y="1764792"/>
            <a:ext cx="1591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Approval
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25512" y="1924812"/>
            <a:ext cx="182880" cy="12801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08392" y="1417320"/>
            <a:ext cx="1664208" cy="114300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44967" y="14721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764792"/>
            <a:ext cx="1591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Goods Movement
Posting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600" y="1924812"/>
            <a:ext cx="182880" cy="12801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55480" y="1417320"/>
            <a:ext cx="1664208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92055" y="14721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7" y="1764792"/>
            <a:ext cx="1591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Report &amp;
Alert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670048"/>
            <a:ext cx="1664208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15568" y="2560320"/>
            <a:ext cx="73152" cy="128016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3192" y="2779776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98C"/>
                </a:solidFill>
              </a:rPr>
              <a:t>ATG + Fiori dip readings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3209544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Read OIB_TANKDIP via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3639312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ZTANK_DIP_SRV_SRV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" y="4069080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Validate completeness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7128" y="2670048"/>
            <a:ext cx="1664208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62656" y="2560320"/>
            <a:ext cx="73152" cy="128016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40280" y="2779776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DD7"/>
                </a:solidFill>
              </a:rPr>
              <a:t>Gross → Net volume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3209544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Via Hydrocarbon Qty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3639312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Conversion REST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4069080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ASTM fallback if needed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14215" y="2670048"/>
            <a:ext cx="1664208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9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809744" y="2560320"/>
            <a:ext cx="73152" cy="128016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87368" y="2779776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7300"/>
                </a:solidFill>
              </a:rPr>
              <a:t>Delta = Physical − Book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87368" y="3209544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Classify: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87368" y="3639312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🟢 OK ≤0.10%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7368" y="4069080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🟡 FLAG ≤0.25%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87368" y="4498848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🔴 URGENT &gt;0.25%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61304" y="2670048"/>
            <a:ext cx="1664208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BB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656832" y="2560320"/>
            <a:ext cx="73152" cy="128016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34456" y="2779776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0021"/>
                </a:solidFill>
              </a:rPr>
              <a:t>URGENT held in CAP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34456" y="3209544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Supervisor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34456" y="3639312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Approve / Reject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34456" y="4069080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Reason code mandatory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08392" y="2670048"/>
            <a:ext cx="1664208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10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503920" y="2560320"/>
            <a:ext cx="73152" cy="128016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81544" y="2779776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7E3E"/>
                </a:solidFill>
              </a:rPr>
              <a:t>Create → Count → PostDiff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81544" y="3209544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via IS-OIL BAPIs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81544" y="3639312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Material Doc hyperlink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81544" y="4069080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AI rec. on failure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55480" y="2670048"/>
            <a:ext cx="1664208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351008" y="2560320"/>
            <a:ext cx="73152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28632" y="2779776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3366"/>
                </a:solidFill>
              </a:rPr>
              <a:t>PDF per-tank variance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28632" y="3209544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Email + MS Teams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28632" y="3639312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BTP Alert Notification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28632" y="4069080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AMBER auto-post @8hrs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53328" y="4160520"/>
            <a:ext cx="1920240" cy="548640"/>
          </a:xfrm>
          <a:prstGeom prst="rect">
            <a:avLst/>
          </a:prstGeom>
          <a:solidFill>
            <a:srgbClr val="FFF0D0"/>
          </a:solidFill>
          <a:ln w="10160">
            <a:solidFill>
              <a:srgbClr val="E9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99048" y="42062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97300"/>
                </a:solidFill>
              </a:rPr>
              <a:t>URGENT?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99048" y="4663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B0021"/>
                </a:solidFill>
              </a:rPr>
              <a:t>YES 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4663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7E3E"/>
                </a:solidFill>
              </a:rPr>
              <a:t>NO → auto-post at M5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6419088"/>
            <a:ext cx="3794760" cy="2926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11479" y="643737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🟢 OK  Within tolerance — auto-post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59" y="6419088"/>
            <a:ext cx="3794760" cy="292608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343399" y="643737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🟡 FLAG  Exceeds 2nd threshold — auto-post + notify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79" y="6419088"/>
            <a:ext cx="3794760" cy="292608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275319" y="643737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🔴 URGENT  Exceeds primary — HOLD for supervisor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Cases &amp; User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Five personas — one cockpit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325880"/>
            <a:ext cx="2148840" cy="91440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" y="1371600"/>
            <a:ext cx="2002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Terminal
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892807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DDDDD"/>
                </a:solidFill>
              </a:rPr>
              <a:t>Field / Gauger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240280"/>
            <a:ext cx="2148840" cy="3520440"/>
          </a:xfrm>
          <a:prstGeom prst="rect">
            <a:avLst/>
          </a:prstGeom>
          <a:solidFill>
            <a:srgbClr val="F4F6F8"/>
          </a:solidFill>
          <a:ln w="7620"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359152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" y="2359152"/>
            <a:ext cx="54864" cy="64008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43230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Enter manual dip readings via Fiori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108960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3108960"/>
            <a:ext cx="54864" cy="64008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18211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View ingestion status in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858768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" y="3858768"/>
            <a:ext cx="54864" cy="64008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See today's tank readings &amp; run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1325880"/>
            <a:ext cx="2148840" cy="91440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87752" y="1371600"/>
            <a:ext cx="2002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Stock
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7752" y="1892807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DDDDD"/>
                </a:solidFill>
              </a:rPr>
              <a:t>Inventory Analyst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2240280"/>
            <a:ext cx="2148840" cy="3520440"/>
          </a:xfrm>
          <a:prstGeom prst="rect">
            <a:avLst/>
          </a:prstGeom>
          <a:solidFill>
            <a:srgbClr val="F4F6F8"/>
          </a:solidFill>
          <a:ln w="762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606040" y="2359152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06040" y="2359152"/>
            <a:ext cx="54864" cy="64008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15768" y="243230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Monitor daily run: Ingestion→VCF→Variance→Posting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3108960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06040" y="3108960"/>
            <a:ext cx="54864" cy="64008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15768" y="318211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Drill into per-tank VCF-corrected detail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858768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606040" y="3858768"/>
            <a:ext cx="54864" cy="64008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15768" y="393192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Re-trigger data collection on partial failure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4608576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606040" y="4608576"/>
            <a:ext cx="54864" cy="64008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15768" y="468172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Download variance PDF for any completed run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73168" y="1325880"/>
            <a:ext cx="2148840" cy="91440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0" y="1371600"/>
            <a:ext cx="2002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Terminal
Supervisor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1892807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DDDDD"/>
                </a:solidFill>
              </a:rPr>
              <a:t>Carlos — Operations Lead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73168" y="2240280"/>
            <a:ext cx="2148840" cy="3520440"/>
          </a:xfrm>
          <a:prstGeom prst="rect">
            <a:avLst/>
          </a:prstGeom>
          <a:solidFill>
            <a:srgbClr val="F4F6F8"/>
          </a:solidFill>
          <a:ln w="7620">
            <a:solidFill>
              <a:srgbClr val="BB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64608" y="2359152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64608" y="2359152"/>
            <a:ext cx="54864" cy="64008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74336" y="243230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Receive URGENT alert immediately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64608" y="3108960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864608" y="3108960"/>
            <a:ext cx="54864" cy="64008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74336" y="318211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Review URGENT-flagged tank detail in approval queue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64608" y="3858768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864608" y="3858768"/>
            <a:ext cx="54864" cy="64008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74336" y="393192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Approve / Reject with reason code (mandatory on reject)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64608" y="4608576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864608" y="4608576"/>
            <a:ext cx="54864" cy="64008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74336" y="468172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Receive consolidated PDF report in MS Teams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31736" y="1325880"/>
            <a:ext cx="2148840" cy="91440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04888" y="1371600"/>
            <a:ext cx="2002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Finance
Accountant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04888" y="1892807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DDDDD"/>
                </a:solidFill>
              </a:rPr>
              <a:t>Fatima — Finance Officer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31736" y="2240280"/>
            <a:ext cx="2148840" cy="3520440"/>
          </a:xfrm>
          <a:prstGeom prst="rect">
            <a:avLst/>
          </a:prstGeom>
          <a:solidFill>
            <a:srgbClr val="F4F6F8"/>
          </a:solidFill>
          <a:ln w="7620">
            <a:solidFill>
              <a:srgbClr val="E9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23176" y="2359152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123176" y="2359152"/>
            <a:ext cx="54864" cy="64008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32904" y="243230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Receive OK/FLAG/URGENT alerts via BTP ANS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23176" y="3108960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123176" y="3108960"/>
            <a:ext cx="54864" cy="64008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32904" y="318211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View posting status and Material Document IDs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23176" y="3858768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123176" y="3858768"/>
            <a:ext cx="54864" cy="64008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32904" y="393192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Access audit trail for daily inventory valuation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23176" y="4608576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123176" y="4608576"/>
            <a:ext cx="54864" cy="64008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232904" y="468172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No dashboard operation needed — trust the alert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90304" y="1325880"/>
            <a:ext cx="214884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363456" y="1371600"/>
            <a:ext cx="2002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Compliance
Officer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63456" y="1892807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DDDDD"/>
                </a:solidFill>
              </a:rPr>
              <a:t>Read-Only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90304" y="2240280"/>
            <a:ext cx="2148840" cy="3520440"/>
          </a:xfrm>
          <a:prstGeom prst="rect">
            <a:avLst/>
          </a:prstGeom>
          <a:solidFill>
            <a:srgbClr val="F4F6F8"/>
          </a:solidFill>
          <a:ln w="762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381744" y="2359152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381744" y="2359152"/>
            <a:ext cx="54864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491472" y="243230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Browse full historical audit trail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81744" y="3108960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381744" y="3108960"/>
            <a:ext cx="54864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91472" y="318211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Filter by tank, date, classification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81744" y="3858768"/>
            <a:ext cx="1965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381744" y="3858768"/>
            <a:ext cx="54864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491472" y="393192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Verify audit records for regulatory submissions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032" y="5852160"/>
            <a:ext cx="11676888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11480" y="588873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Role-Based Access Control enforced via XSUAA scopes:  ReconciliationUser (read)  |  ReconciliationApprover (approve/reject)  |  ReconciliationAdmin (config + trigger)  |  OGSIntegration (M2M)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Intelligent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AI-powered automation built into every milestone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389888"/>
            <a:ext cx="3657600" cy="1719072"/>
          </a:xfrm>
          <a:prstGeom prst="rect">
            <a:avLst/>
          </a:prstGeom>
          <a:solidFill>
            <a:srgbClr val="F4F6F8"/>
          </a:solidFill>
          <a:ln w="1016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" y="1389888"/>
            <a:ext cx="3657600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Variance
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4708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Variance Engine auto-classifies each tank as
GREEN / AMBER / RED against configurable thresholds.
No manual judgment — exceptions surface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1389888"/>
            <a:ext cx="3657600" cy="1719072"/>
          </a:xfrm>
          <a:prstGeom prst="rect">
            <a:avLst/>
          </a:prstGeom>
          <a:solidFill>
            <a:srgbClr val="F4F6F8"/>
          </a:solidFill>
          <a:ln w="10160">
            <a:solidFill>
              <a:srgbClr val="BB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87368" y="1389888"/>
            <a:ext cx="3657600" cy="384048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426464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Recommendations
on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84708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When goods movement posting fails (M5),
AI generates corrective action recommendations
surfaced in audit trail and dashboard.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8" y="1389888"/>
            <a:ext cx="3657600" cy="1719072"/>
          </a:xfrm>
          <a:prstGeom prst="rect">
            <a:avLst/>
          </a:prstGeom>
          <a:solidFill>
            <a:srgbClr val="F4F6F8"/>
          </a:solidFill>
          <a:ln w="10160"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82128" y="1389888"/>
            <a:ext cx="3657600" cy="384048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0" y="1426464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Intelligent Approval
State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184708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CAP holds URGENT tanks; auto-approves GREEN/AMBER.
Human involvement limited to genuine exceptions.
Approval record mandatory before any posting fires.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3255264"/>
            <a:ext cx="3657600" cy="1719072"/>
          </a:xfrm>
          <a:prstGeom prst="rect">
            <a:avLst/>
          </a:prstGeom>
          <a:solidFill>
            <a:srgbClr val="F4F6F8"/>
          </a:solidFill>
          <a:ln w="10160">
            <a:solidFill>
              <a:srgbClr val="E9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2608" y="3255264"/>
            <a:ext cx="3657600" cy="384048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291840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Time-Aware
Auto-Post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712464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AMBER-classified tanks auto-post after 8 hours
if no supervisor action — prevents reconciliation
backlog without sacrificing oversight.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7368" y="3255264"/>
            <a:ext cx="3657600" cy="1719072"/>
          </a:xfrm>
          <a:prstGeom prst="rect">
            <a:avLst/>
          </a:prstGeom>
          <a:solidFill>
            <a:srgbClr val="F4F6F8"/>
          </a:solidFill>
          <a:ln w="10160">
            <a:solidFill>
              <a:srgbClr val="10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87368" y="3255264"/>
            <a:ext cx="3657600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60520" y="3291840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Dynamic Reason
Codes (M4)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8" y="3712464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Reason codes fetched live from SAP table T157D —
not hardcoded. Adapts to master data configuration
in the underlying S/4HANA system.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8" y="3255264"/>
            <a:ext cx="3657600" cy="1719072"/>
          </a:xfrm>
          <a:prstGeom prst="rect">
            <a:avLst/>
          </a:prstGeom>
          <a:solidFill>
            <a:srgbClr val="F4F6F8"/>
          </a:solidFill>
          <a:ln w="1016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82128" y="3255264"/>
            <a:ext cx="36576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0" y="3291840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Intelligent Alert
Routing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3712464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Alert Manager routes OK/FLAG/URGENT notifications
to the right roles via the right channels
(Teams webhook, BTP ANS, in-app bell) by severity.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5120640"/>
            <a:ext cx="3657600" cy="1719072"/>
          </a:xfrm>
          <a:prstGeom prst="rect">
            <a:avLst/>
          </a:prstGeom>
          <a:solidFill>
            <a:srgbClr val="F4F6F8"/>
          </a:solidFill>
          <a:ln w="1016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92608" y="5120640"/>
            <a:ext cx="3657600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5157216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Dual-Source Data
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55778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Data Collector merges ATG + Fiori manual dip entries
and cross-validates for completeness.
Rejects incomplete runs before any calculation.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87368" y="5120640"/>
            <a:ext cx="3657600" cy="1719072"/>
          </a:xfrm>
          <a:prstGeom prst="rect">
            <a:avLst/>
          </a:prstGeom>
          <a:solidFill>
            <a:srgbClr val="F4F6F8"/>
          </a:solidFill>
          <a:ln w="10160"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087368" y="5120640"/>
            <a:ext cx="3657600" cy="384048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60520" y="5157216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Chat Interface
(Natural Language)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8808" y="55778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Operators can query reconciliation data in plain English
via AI Core proxy — 'What is Tank 17T1 variance today?'
Surfaced as an AiChat page in the React dashboard.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8" y="5120640"/>
            <a:ext cx="3657600" cy="1719072"/>
          </a:xfrm>
          <a:prstGeom prst="rect">
            <a:avLst/>
          </a:prstGeom>
          <a:solidFill>
            <a:srgbClr val="F4F6F8"/>
          </a:solidFill>
          <a:ln w="10160">
            <a:solidFill>
              <a:srgbClr val="E9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882128" y="5120640"/>
            <a:ext cx="3657600" cy="384048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55280" y="5157216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VCF Fallback
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55778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If SAP Hydrocarbon Qty Conversion API is unavailable,
ASTM D1250 fallback table activates automatically.
Fallback flagged in audit trail and dashboard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Components, APIs, and integration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71323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37160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3716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37360"/>
            <a:ext cx="7132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79222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7922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n8n Cron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7922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Daily run at configured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39696"/>
            <a:ext cx="71323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194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Data Collector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945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n8n workflow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1945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ATG + Fiori ingestion &amp;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42032"/>
            <a:ext cx="7132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5968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VCF Calculator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5968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n8n workflow node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596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Gross → Net volume conversion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44368"/>
            <a:ext cx="71323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299923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Variance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29992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n8n workflow 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999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Delta compute &amp; OK/FLAG/URGENT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46704"/>
            <a:ext cx="7132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34015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Alert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34015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n8n workflow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4015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Audit log + BTP ANS alerts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49039"/>
            <a:ext cx="71323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3803903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Report Generator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380390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n8n workflow node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803903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PDF + Email + MS Teams distrib.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151376"/>
            <a:ext cx="7132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42062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CAP 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42062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SAP CAP Node.js / BTP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2062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Persistent store + approval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553712"/>
            <a:ext cx="71323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46085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React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46085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React 19 + SAP UI5 WC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46085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Single cockpit for all roles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956048"/>
            <a:ext cx="7132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50109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Auth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50109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XSUAA (BTP)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50109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Role-based access control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358383"/>
            <a:ext cx="71323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80" y="541324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OData 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5413247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ABAP Gateway (OGS/650)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413247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Custom IS-OIL exposure layer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760720"/>
            <a:ext cx="7132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" y="581558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</a:rPr>
              <a:t>Connectivity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58155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DD7"/>
                </a:solidFill>
              </a:rPr>
              <a:t>SAP Cloud Connector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80" y="581558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Secure on-premise tunnel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1325880"/>
            <a:ext cx="4206240" cy="384048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18120" y="137160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S/4HANA / OGS APIs Used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1737360"/>
            <a:ext cx="4206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680960" y="1737360"/>
            <a:ext cx="548640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90104" y="1801368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1792224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ZTANK_DIP_SRV_SRV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194767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OGS — Tank dip readings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2139696"/>
            <a:ext cx="420624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680960" y="2139696"/>
            <a:ext cx="548640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690104" y="2203703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21945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ZTANK_PLANT_SRV_SRV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235000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OGS — Plant / terminal list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80960" y="2542032"/>
            <a:ext cx="4206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680960" y="2542032"/>
            <a:ext cx="548640" cy="384048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690104" y="2606039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Write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2596896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ZTANK_POST_SRV_SRV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75320" y="2752344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OGS — Goods movement post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80960" y="2944368"/>
            <a:ext cx="420624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680960" y="2944368"/>
            <a:ext cx="548640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690104" y="3008375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75320" y="299923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API_MATERIAL_STOCK_SRV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5320" y="3154679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S/4 — HPM book stock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0" y="3346704"/>
            <a:ext cx="4206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680960" y="3346704"/>
            <a:ext cx="548640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690104" y="341071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5320" y="340156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API_PHYSICAL_INVENTORY_DOC_SRV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75320" y="3557016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S/4 — Fiori dip entries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80960" y="3749039"/>
            <a:ext cx="420624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7680960" y="3749039"/>
            <a:ext cx="548640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690104" y="3813048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75320" y="3803903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MEASUREMENTDOCUMENT_0001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75320" y="395935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S/4 — Tank master/strapping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80960" y="4151376"/>
            <a:ext cx="4206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680960" y="4151376"/>
            <a:ext cx="548640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690104" y="421538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75320" y="420624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Hydrocarbon Qty Conv. REST API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75320" y="436168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S/4 — VCF calculation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80960" y="4553712"/>
            <a:ext cx="420624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680960" y="4553712"/>
            <a:ext cx="548640" cy="384048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690104" y="461772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Write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75320" y="4608576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API_MATERIAL_DOCUMENT_SRV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4764024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S/4 — Goods movement POST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80960" y="4956048"/>
            <a:ext cx="4206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680960" y="4956048"/>
            <a:ext cx="548640" cy="384048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90104" y="502005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Write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20" y="50109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BTP Alert Notification Service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75320" y="51663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BTP — Push alerts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680960" y="5358383"/>
            <a:ext cx="420624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680960" y="5358383"/>
            <a:ext cx="548640" cy="384048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690104" y="542239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Write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75320" y="5413247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03366"/>
                </a:solidFill>
              </a:rPr>
              <a:t>MS Teams webhook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75320" y="5568696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Teams — PDF report distrib.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Outcomes delivered — technical and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89888"/>
            <a:ext cx="361188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89888"/>
            <a:ext cx="3611880" cy="45720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14538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4630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First IS-OIL → BTP
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56816"/>
            <a:ext cx="33924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Connected SAP BTP to IS-OIL HPM tank data on a
Private Cloud system via Cloud Connector.
Real OIB_TANKDIP data verified against SE16N records.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389888"/>
            <a:ext cx="361188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23360" y="1389888"/>
            <a:ext cx="3611880" cy="45720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96512" y="14538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4630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Custom OData Services
Built from Scratch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8" y="1956816"/>
            <a:ext cx="33924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ZTANK_DIP_SRV_SRV (3 entity sets),
ZTANK_PLANT_SRV_SRV, ZTANK_POST_SRV_SRV —
IS-OIL tank data exposed as OData for the first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389888"/>
            <a:ext cx="361188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0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1389888"/>
            <a:ext cx="3611880" cy="45720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45552" y="14538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4630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OGS → BTP M2M
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8" y="1956816"/>
            <a:ext cx="33924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ABAP FM Z_TANK_RECON_TRIGGER_RUN fetches
XSUAA token and calls BTP CAP endpoint directly —
IS-OIL can trigger reconciliation runs from ABAP.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20440"/>
            <a:ext cx="361188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9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520440"/>
            <a:ext cx="3611880" cy="45720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5844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59359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Full Approval Governance
on BTP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087368"/>
            <a:ext cx="33924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URGENT variances held in CAP state machine.
No Material Document posted without
supervisor sign-off recorded in immutable audit trail.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3520440"/>
            <a:ext cx="361188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BB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23360" y="3520440"/>
            <a:ext cx="3611880" cy="45720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96512" y="35844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359359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End-to-End Data
Accuracy 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8" y="4087368"/>
            <a:ext cx="33924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Dashboard values match OIB_TANKDIP source exactly.
Book stock, physical quantity, and delta all verified
against SE16N records in OGS/650.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520440"/>
            <a:ext cx="361188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0" y="3520440"/>
            <a:ext cx="361188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45552" y="35844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59359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Role-Based Access
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8" y="4087368"/>
            <a:ext cx="33924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4 XSUAA scopes enforced at API and UI levels.
Approval Queue visible to Supervisors only.
Config screen accessible to Admins only.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080760"/>
            <a:ext cx="11640312" cy="56692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0AB00"/>
                </a:solidFill>
              </a:rPr>
              <a:t>🏆   2–4 hours of daily manual work  →  under 2 minutes automated    |  First live IS-OIL ↔ BTP integration in this landscape    |  100% audit coverage, zero manual steps for within-tolerance tanks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Risks, Guardrails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What can go wrong — and how we handle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577840" cy="384048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Risks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5577840" cy="1005840"/>
          </a:xfrm>
          <a:prstGeom prst="rect">
            <a:avLst/>
          </a:prstGeom>
          <a:solidFill>
            <a:srgbClr val="F4F6F8"/>
          </a:solidFill>
          <a:ln w="10160">
            <a:solidFill>
              <a:srgbClr val="BB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773936"/>
            <a:ext cx="566928" cy="1005840"/>
          </a:xfrm>
          <a:prstGeom prst="rect">
            <a:avLst/>
          </a:prstGeom>
          <a:solidFill>
            <a:srgbClr val="BB0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" y="20939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865376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0021"/>
                </a:solidFill>
              </a:rPr>
              <a:t>Tank Strapping Table OData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76272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Standard OData may not fully expose strapping calibration tables.
RFC/BAPI extension may be required. Validate in Sprint 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52928"/>
            <a:ext cx="5577840" cy="1005840"/>
          </a:xfrm>
          <a:prstGeom prst="rect">
            <a:avLst/>
          </a:prstGeom>
          <a:solidFill>
            <a:srgbClr val="F4F6F8"/>
          </a:solidFill>
          <a:ln w="10160">
            <a:solidFill>
              <a:srgbClr val="E9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852928"/>
            <a:ext cx="566928" cy="100584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" y="31729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4436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300"/>
                </a:solidFill>
              </a:rPr>
              <a:t>ATG Protocol Variability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55264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ATG vendors differ in payload format. Data Collector normalisation
layer must be designed for pluggability across sites.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5577840" cy="1005840"/>
          </a:xfrm>
          <a:prstGeom prst="rect">
            <a:avLst/>
          </a:prstGeom>
          <a:solidFill>
            <a:srgbClr val="F4F6F8"/>
          </a:solidFill>
          <a:ln w="10160">
            <a:solidFill>
              <a:srgbClr val="E9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931920"/>
            <a:ext cx="566928" cy="100584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3464" y="425195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2335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300"/>
                </a:solidFill>
              </a:rPr>
              <a:t>VCF REST API 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34256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Hydrocarbon Qty Conversion REST API has limited documentation.
ASTM fallback must be operational from day 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10912"/>
            <a:ext cx="5577840" cy="1005840"/>
          </a:xfrm>
          <a:prstGeom prst="rect">
            <a:avLst/>
          </a:prstGeom>
          <a:solidFill>
            <a:srgbClr val="F4F6F8"/>
          </a:solidFill>
          <a:ln w="10160">
            <a:solidFill>
              <a:srgbClr val="E9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5010912"/>
            <a:ext cx="566928" cy="1005840"/>
          </a:xfrm>
          <a:prstGeom prst="rect">
            <a:avLst/>
          </a:prstGeom>
          <a:solidFill>
            <a:srgbClr val="E9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3464" y="5330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0235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300"/>
                </a:solidFill>
              </a:rPr>
              <a:t>S/4HANA Auth Provisioning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13248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Material Document posting OData calls require specific auth profiles.
Must be provisioned and tested before UAT.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325880"/>
            <a:ext cx="5687568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137160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System Guardrails &amp; Fail-safes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773936"/>
            <a:ext cx="56875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8" y="186537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86537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 URGENT posting without supervisor approval record in CAP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322576"/>
            <a:ext cx="5687568" cy="49377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36208" y="241401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41401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Incomplete ingestion halts run before VCF — URGENT alert raised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871215"/>
            <a:ext cx="56875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36208" y="296265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96265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Posting failure → logged + URGENT alert; no auto-retry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419856"/>
            <a:ext cx="5687568" cy="49377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351129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51129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VCF API unavailable → ASTM fallback auto-activates; flagged in audit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968496"/>
            <a:ext cx="56875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36208" y="4059935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059935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Every action timestamped with actor ID — tamper-evident audit log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517136"/>
            <a:ext cx="5687568" cy="49377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36208" y="4608575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608575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XSUAA scopes enforced at API and UI level for every role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5065775"/>
            <a:ext cx="56875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36208" y="5157215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157215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AMBER auto-posts after 8 hours — prevents reconciliation backlog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5614416"/>
            <a:ext cx="5687568" cy="49377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36208" y="570585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570585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Material Doc number written back to CAP for full traceability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B00"/>
                </a:solidFill>
              </a:rPr>
              <a:t>What this solution changes — in numbers and in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6E2"/>
                </a:solidFill>
              </a:rPr>
              <a:t>Hydrocarbon Tank Stock Reconciliation  |  SAP BTP + IS-OIL HPM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2194560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5331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B00"/>
                </a:solidFill>
              </a:rPr>
              <a:t>~95%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8013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BD6E2"/>
                </a:solidFill>
              </a:rPr>
              <a:t>Reduction in
reconciliation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1316736"/>
            <a:ext cx="2194560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88336" y="135331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B00"/>
                </a:solidFill>
              </a:rPr>
              <a:t>&lt; 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18013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BD6E2"/>
                </a:solidFill>
              </a:rPr>
              <a:t>Gauge reading
to Material Document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316736"/>
            <a:ext cx="2194560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135331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B00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013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BD6E2"/>
                </a:solidFill>
              </a:rPr>
              <a:t>Auto-posted
(within-tolerance tanks)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4" y="1316736"/>
            <a:ext cx="2194560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70064" y="135331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B00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18013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BD6E2"/>
                </a:solidFill>
              </a:rPr>
              <a:t>Manual steps
for routine 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1316736"/>
            <a:ext cx="2194560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10928" y="135331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B00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18013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BD6E2"/>
                </a:solidFill>
              </a:rPr>
              <a:t>Milestones fully
audit-logged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2395728"/>
            <a:ext cx="3749039" cy="4343400"/>
          </a:xfrm>
          <a:prstGeom prst="rect">
            <a:avLst/>
          </a:prstGeom>
          <a:solidFill>
            <a:srgbClr val="F4F6F8"/>
          </a:solidFill>
          <a:ln w="1397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6032" y="2395728"/>
            <a:ext cx="3749039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450592"/>
            <a:ext cx="352958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2852928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7472" y="2852928"/>
            <a:ext cx="45720" cy="89611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889504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⏱  2–4 hrs → &lt; 2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145536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DD7"/>
                </a:solidFill>
              </a:rPr>
              <a:t>Daily reconciliation time per terminal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374136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n8n auto-runs ATG ingestion, VCF correction, and posting — no one touches 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3822191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7472" y="3822191"/>
            <a:ext cx="45720" cy="89611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85876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🖥  One cockpit, five roles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114800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DD7"/>
                </a:solidFill>
              </a:rPr>
              <a:t>No more SAP screens + spreadsheets + email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43400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Every role sees live run status, tank detail, and approvals in one React 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791456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47472" y="4791456"/>
            <a:ext cx="45720" cy="89611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828032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🤖  Zero manual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084064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DD7"/>
                </a:solidFill>
              </a:rPr>
              <a:t>ATG → VCF → post runs fully unattended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312664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Routine tanks post automatically; humans only act on URGENT exceptions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5760720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5760720"/>
            <a:ext cx="45720" cy="89611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5797296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📈  Scales to new terminals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053328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DD7"/>
                </a:solidFill>
              </a:rPr>
              <a:t>Config only — no extra process or headcount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81928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Add terminal in CAP configuration — the same pipeline runs for every site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55948" y="2395728"/>
            <a:ext cx="3749039" cy="4343400"/>
          </a:xfrm>
          <a:prstGeom prst="rect">
            <a:avLst/>
          </a:prstGeom>
          <a:solidFill>
            <a:srgbClr val="F4F6F8"/>
          </a:solidFill>
          <a:ln w="13970">
            <a:solidFill>
              <a:srgbClr val="10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155948" y="2395728"/>
            <a:ext cx="3749039" cy="38404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65676" y="2450592"/>
            <a:ext cx="352958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Financial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47388" y="2852928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247388" y="2852928"/>
            <a:ext cx="45720" cy="89611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57116" y="2889504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💰  Same-day inventory close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57116" y="3145536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7E3E"/>
                </a:solidFill>
              </a:rPr>
              <a:t>Material Docs posted minutes after run — not hours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57116" y="3374136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Finance gets accurate stock values the same morning, not after chasing approvals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47388" y="3822191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247388" y="3822191"/>
            <a:ext cx="45720" cy="89611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357116" y="385876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🔍  No missed shrinkage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57116" y="4114800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7E3E"/>
                </a:solidFill>
              </a:rPr>
              <a:t>Every tank variance caught and classified automatically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57116" y="4343400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Variance Engine checks all tanks every run — nothing slips through a manual gap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47388" y="4791456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247388" y="4791456"/>
            <a:ext cx="45720" cy="89611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57116" y="4828032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✅  Correct move type always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57116" y="5084064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7E3E"/>
                </a:solidFill>
              </a:rPr>
              <a:t>551/552 determined by engine — no manual posting error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57116" y="5312664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Shrinkage vs gain selected by delta sign — eliminates wrong-type reversals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47388" y="5760720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247388" y="5760720"/>
            <a:ext cx="45720" cy="89611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357116" y="5797296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📄  Audit-ready records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57116" y="6053328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7E3E"/>
                </a:solidFill>
              </a:rPr>
              <a:t>Every Doc linked to VCF factor, approval actor, timestamp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57116" y="6281928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Auditors get the full posting chain from one CAP query — no email reconstruction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55863" y="2395728"/>
            <a:ext cx="3749039" cy="4343400"/>
          </a:xfrm>
          <a:prstGeom prst="rect">
            <a:avLst/>
          </a:prstGeom>
          <a:solidFill>
            <a:srgbClr val="F4F6F8"/>
          </a:solidFill>
          <a:ln w="13970"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055863" y="2395728"/>
            <a:ext cx="3749039" cy="384048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165591" y="2450592"/>
            <a:ext cx="352958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Compliance &amp; Risk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47303" y="2852928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147303" y="2852928"/>
            <a:ext cx="45720" cy="89611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257031" y="2889504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🔒  Structurally enforced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57031" y="3145536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98C"/>
                </a:solidFill>
              </a:rPr>
              <a:t>URGENT tanks cannot post without supervisor sign-off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57031" y="3374136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CAP state machine blocks the API call — approval is not a reminder, it is a gate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47303" y="3822191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147303" y="3822191"/>
            <a:ext cx="45720" cy="89611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57031" y="385876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📋  Immutable audit trail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57031" y="4114800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98C"/>
                </a:solidFill>
              </a:rPr>
              <a:t>Full M1–M6 chain of custody — every action timestamped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57031" y="4343400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Every reading, VCF factor, decision, and posting stored with actor ID and timestamp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47303" y="4791456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147303" y="4791456"/>
            <a:ext cx="45720" cy="89611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257031" y="4828032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🔎  Instant regulatory lookup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57031" y="5084064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98C"/>
                </a:solidFill>
              </a:rPr>
              <a:t>Filter by tank / date / class — reconstruct any run in seconds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57031" y="5312664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Compliance officers query the audit trail directly — no spreadsheet archaeology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47303" y="5760720"/>
            <a:ext cx="356615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147303" y="5760720"/>
            <a:ext cx="45720" cy="89611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57031" y="5797296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📐  VCF fully traceable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57031" y="6053328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98C"/>
                </a:solidFill>
              </a:rPr>
              <a:t>Strapping ID + temp factor logged — meets custody transfer reqs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57031" y="6281928"/>
            <a:ext cx="3419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55"/>
                </a:solidFill>
              </a:rPr>
              <a:t>Each corrected volume cites its exact calibration source — defensible in any audit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54864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18304"/>
            <a:ext cx="12188952" cy="2139696"/>
          </a:xfrm>
          <a:prstGeom prst="rect">
            <a:avLst/>
          </a:prstGeom>
          <a:solidFill>
            <a:srgbClr val="00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BD6E2"/>
                </a:solidFill>
              </a:rPr>
              <a:t>An end-to-end automated hydrocarbon tank reconciliation pipeline on SAP BTP,
eliminating 2–4 hours of daily manual work per terminal.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1993392" cy="2148840"/>
          </a:xfrm>
          <a:prstGeom prst="rect">
            <a:avLst/>
          </a:prstGeom>
          <a:solidFill>
            <a:srgbClr val="002A55"/>
          </a:solidFill>
          <a:ln w="1016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AB00"/>
                </a:solidFill>
              </a:rPr>
              <a:t>IS-OIL
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810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First live OGS/650 → BTP
connection in this landscape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4056" y="2286000"/>
            <a:ext cx="1993392" cy="2148840"/>
          </a:xfrm>
          <a:prstGeom prst="rect">
            <a:avLst/>
          </a:prstGeom>
          <a:solidFill>
            <a:srgbClr val="002A55"/>
          </a:solidFill>
          <a:ln w="1016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25496" y="2359152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AB00"/>
                </a:solidFill>
              </a:rPr>
              <a:t>Full
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3063240"/>
            <a:ext cx="1810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Gauge reading → Material
Document in &lt; 2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5192" y="2286000"/>
            <a:ext cx="1993392" cy="2148840"/>
          </a:xfrm>
          <a:prstGeom prst="rect">
            <a:avLst/>
          </a:prstGeom>
          <a:solidFill>
            <a:srgbClr val="002A55"/>
          </a:solidFill>
          <a:ln w="1016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56631" y="2359152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AB00"/>
                </a:solidFill>
              </a:rPr>
              <a:t>Governance
&amp;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1" y="3063240"/>
            <a:ext cx="1810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No posting without approval.
Immutable audit trail.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96328" y="2286000"/>
            <a:ext cx="1993392" cy="2148840"/>
          </a:xfrm>
          <a:prstGeom prst="rect">
            <a:avLst/>
          </a:prstGeom>
          <a:solidFill>
            <a:srgbClr val="002A55"/>
          </a:solidFill>
          <a:ln w="1016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7768" y="2359152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AB00"/>
                </a:solidFill>
              </a:rPr>
              <a:t>Intelligent
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3063240"/>
            <a:ext cx="1810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OK/FLAG/URGENT routing to
right roles, right channels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27464" y="2286000"/>
            <a:ext cx="1993392" cy="2148840"/>
          </a:xfrm>
          <a:prstGeom prst="rect">
            <a:avLst/>
          </a:prstGeom>
          <a:solidFill>
            <a:srgbClr val="002A55"/>
          </a:solidFill>
          <a:ln w="1016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18904" y="2359152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AB00"/>
                </a:solidFill>
              </a:rPr>
              <a:t>Single
Cockpit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4" y="3063240"/>
            <a:ext cx="1810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One React dashboard for all
5 roles — no spreadsheets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92040"/>
            <a:ext cx="11091672" cy="4572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6E2"/>
                </a:solidFill>
              </a:rPr>
              <a:t>n8n workflow  ·  SAP CAP  ·  React + SAP UI5  ·  IS-OIL HPM  ·  Cloud Connector  ·  XSUAA  ·  BTP 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88AA"/>
                </a:solidFill>
              </a:rPr>
              <a:t>Terminal Operations / Supply Chain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2864</Words>
  <Application>Microsoft Macintosh PowerPoint</Application>
  <PresentationFormat>Custom</PresentationFormat>
  <Paragraphs>424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Dixit, Anita</cp:lastModifiedBy>
  <cp:revision>1</cp:revision>
  <dcterms:created xsi:type="dcterms:W3CDTF">2013-01-27T09:14:16Z</dcterms:created>
  <dcterms:modified xsi:type="dcterms:W3CDTF">2026-07-31T05:35:07Z</dcterms:modified>
  <cp:category/>
</cp:coreProperties>
</file>