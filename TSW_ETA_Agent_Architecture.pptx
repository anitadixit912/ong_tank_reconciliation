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/slideMaster1.xml" ContentType="application/vnd.openxmlformats-officedocument.presentationml.slideMaster+xml"/>
  <Override PartName="/ppt/slideLayout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docProps/core.xml" ContentType="application/vnd.openxmlformats-package.core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
    Target="ppt/presentation.xml"/>
  <Relationship Id="rId2" Type="http://schemas.openxmlformats.org/package/2006/relationships/metadata/core-properties"
    Target="docProps/core.xml"/>
</Relationships>
</file>

<file path=ppt/presentation.xml><?xml version="1.0" encoding="utf-8"?>
<p:presentation xmlns:p="http://schemas.openxmlformats.org/presentationml/2006/main" xmlns:r="http://schemas.openxmlformats.org/officeDocument/2006/relationships" xmlns:a="http://schemas.openxmlformats.org/drawing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/>
  <p:notesSz cx="6858000" cy="9144000"/>
  <p:defaultTextStyle>
    <a:defPPr>
      <a:defRPr lang="en-US"/>
    </a:defPPr>
  </p:defaultTextStyle>
</p:presentation>
</file>

<file path=ppt/_rels/presentation.xml.rels><?xml version="1.0" encoding="UTF-8" standalone="yes"?>
<Relationships xmlns="http://schemas.openxmlformats.org/package/2006/relationships">
  <Relationship Id="rId1"
    Type="http://schemas.openxmlformats.org/officeDocument/2006/relationships/slideMaster"
    Target="slideMaster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</Relationships>
</file>

<file path=ppt/slideLayout/_rels/slideLayout1.xml.rels><?xml version="1.0" encoding="UTF-8" standalone="yes"?>
<Relationships xmlns="http://schemas.openxmlformats.org/package/2006/relationships">
  <Relationship Id="rId1"
    Type="http://schemas.openxmlformats.org/officeDocument/2006/relationships/slideMaster"
    Target="../slideMaster/slideMaster1.xml"/>
</Relationships>
</file>

<file path=ppt/slideLayout/slideLayout1.xml><?xml version="1.0" encoding="utf-8"?>
<p:sldLayout xmlns:p="http://schemas.openxmlformats.org/presentationml/2006/main" xmlns:r="http://schemas.openxmlformats.org/officeDocument/2006/relationships" xmlns:a="http://schemas.openxmlformats.org/drawing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/_rels/slideMaster1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/slideLayout1.xml"/>
</Relationships>
</file>

<file path=ppt/slideMaster/slideMaster1.xml><?xml version="1.0" encoding="utf-8"?>
<p:sldMaster xmlns:p="http://schemas.openxmlformats.org/presentationml/2006/main" xmlns:r="http://schemas.openxmlformats.org/officeDocument/2006/relationships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stStyle>
        <a:lvl1pPr>
          <a:defRPr lang="en-US" sz="3600" b="1"/>
        </a:lvl1pPr>
      </a:lstStyle>
    </p:titleStyle>
    <p:bodyStyle>
      <a:lstStyle>
        <a:lvl1pPr>
          <a:defRPr lang="en-US" sz="1800"/>
        </a:lvl1pPr>
      </a:lstStyle>
    </p:bodyStyle>
    <p:otherStyle>
      <a:lstStyle>
        <a:lvl1pPr>
          <a:defRPr lang="en-US"/>
        </a:lvl1pPr>
      </a:lstStyle>
    </p:otherStyle>
  </p:txStyles>
</p:sldMaster>
</file>

<file path=ppt/slides/_rels/slide1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/slideLayout1.xml"/>
</Relationships>
</file>

<file path=ppt/slides/_rels/slide2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/slideLayout1.xml"/>
</Relationships>
</file>

<file path=ppt/slides/_rels/slide3.xml.rels><?xml version="1.0" encoding="UTF-8" standalone="yes"?>
<Relationships xmlns="http://schemas.openxmlformats.org/package/2006/relationships">
  <Relationship Id="rId1"
    Type="http://schemas.openxmlformats.org/officeDocument/2006/relationships/slideLayout"
    Target="../slideLayout/slideLayout1.xml"/>
</Relationships>
</file>

<file path=ppt/slides/slide1.xml><?xml version="1.0" encoding="utf-8"?>
<p:sld xmlns:p="http://schemas.openxmlformats.org/presentationml/2006/main" xmlns:r="http://schemas.openxmlformats.org/officeDocument/2006/relationships" xmlns:a="http://schemas.openxmlformats.org/drawingml/2006/main" show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21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02" name="b102"/>
          <p:cNvSpPr>
            <a:spLocks noGrp="1"/>
          </p:cNvSpPr>
          <p:nvPr/>
        </p:nvSpPr>
        <p:spPr>
          <a:xfrm>
            <a:off x="0" y="0"/>
            <a:ext cx="180000" cy="5184000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txBody>
          <a:bodyPr/>
          <a:lstStyle/>
          <a:p/>
        </p:txBody>
      </p:sp>
      <p:sp>
        <p:nvSpPr>
          <p:cNvPr id="201" name="t201"/>
          <p:cNvSpPr txBox="1">
            <a:spLocks noGrp="1"/>
          </p:cNvSpPr>
          <p:nvPr/>
        </p:nvSpPr>
        <p:spPr>
          <a:xfrm>
            <a:off x="432000" y="360000"/>
            <a:ext cx="5616000" cy="540000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/>
            <a:r>
              <a:rPr lang="en-US" sz="4000" b="1" i="0" dirty="0">
                <a:solidFill>
                  <a:srgbClr val="FFFFFF"/>
                </a:solidFill>
              </a:rPr>
              <a:t>TSW ETA Intelligence Agent</a:t>
            </a:r>
          </a:p>
        </p:txBody>
      </p:sp>
      <p:sp>
        <p:nvSpPr>
          <p:cNvPr id="202" name="t202"/>
          <p:cNvSpPr txBox="1">
            <a:spLocks noGrp="1"/>
          </p:cNvSpPr>
          <p:nvPr/>
        </p:nvSpPr>
        <p:spPr>
          <a:xfrm>
            <a:off x="432000" y="936000"/>
            <a:ext cx="5616000" cy="251999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/>
            <a:r>
              <a:rPr lang="en-US" sz="2200" b="0" i="0" dirty="0">
                <a:solidFill>
                  <a:srgbClr val="B0D4EC"/>
                </a:solidFill>
              </a:rPr>
              <a:t>Architecture, Data Flow &amp; Integration Overview</a:t>
            </a:r>
          </a:p>
        </p:txBody>
      </p:sp>
      <p:sp>
        <p:nvSpPr>
          <p:cNvPr id="101" name="bar"/>
          <p:cNvSpPr>
            <a:spLocks noGrp="1"/>
          </p:cNvSpPr>
          <p:nvPr/>
        </p:nvSpPr>
        <p:spPr>
          <a:xfrm>
            <a:off x="432000" y="1260000"/>
            <a:ext cx="5616000" cy="21600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txBody>
          <a:bodyPr/>
          <a:lstStyle/>
          <a:p/>
        </p:txBody>
      </p:sp>
      <p:sp>
        <p:nvSpPr>
          <p:cNvPr id="310" name="b310"/>
          <p:cNvSpPr>
            <a:spLocks noGrp="1"/>
          </p:cNvSpPr>
          <p:nvPr/>
        </p:nvSpPr>
        <p:spPr>
          <a:xfrm>
            <a:off x="432000" y="1440000"/>
            <a:ext cx="1800000" cy="864000"/>
          </a:xfrm>
          <a:prstGeom prst="roundRect">
            <a:avLst>
              <a:gd name="adj" fmla="val 30000"/>
            </a:avLst>
          </a:prstGeom>
          <a:solidFill>
            <a:srgbClr val="1A3A55"/>
          </a:solidFill>
          <a:ln w="12700">
            <a:solidFill>
              <a:srgbClr val="00A3E0"/>
            </a:solidFill>
          </a:ln>
        </p:spPr>
        <p:txBody>
          <a:bodyPr/>
          <a:lstStyle/>
          <a:p/>
        </p:txBody>
      </p:sp>
      <p:sp>
        <p:nvSpPr>
          <p:cNvPr id="320" name="t320"/>
          <p:cNvSpPr txBox="1">
            <a:spLocks noGrp="1"/>
          </p:cNvSpPr>
          <p:nvPr/>
        </p:nvSpPr>
        <p:spPr>
          <a:xfrm>
            <a:off x="504000" y="1494000"/>
            <a:ext cx="1655999" cy="288000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/>
            <a:r>
              <a:rPr lang="en-US" sz="1800" b="1" i="0" dirty="0">
                <a:solidFill>
                  <a:srgbClr val="00A3E0"/>
                </a:solidFill>
              </a:rPr>
              <a:t>2 AI Agents</a:t>
            </a:r>
          </a:p>
        </p:txBody>
      </p:sp>
      <p:sp>
        <p:nvSpPr>
          <p:cNvPr id="330" name="t330"/>
          <p:cNvSpPr txBox="1">
            <a:spLocks noGrp="1"/>
          </p:cNvSpPr>
          <p:nvPr/>
        </p:nvSpPr>
        <p:spPr>
          <a:xfrm>
            <a:off x="504000" y="1746000"/>
            <a:ext cx="1655999" cy="468000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/>
            <a:r>
              <a:rPr lang="en-US" sz="1300" b="0" i="0" dirty="0">
                <a:solidFill>
                  <a:srgbClr val="B0D4EC"/>
                </a:solidFill>
              </a:rPr>
              <a:t>Nomination ETA Agent
+ Tank Reconciliation Agent</a:t>
            </a:r>
          </a:p>
        </p:txBody>
      </p:sp>
      <p:sp>
        <p:nvSpPr>
          <p:cNvPr id="311" name="b311"/>
          <p:cNvSpPr>
            <a:spLocks noGrp="1"/>
          </p:cNvSpPr>
          <p:nvPr/>
        </p:nvSpPr>
        <p:spPr>
          <a:xfrm>
            <a:off x="2376000" y="1440000"/>
            <a:ext cx="1800000" cy="864000"/>
          </a:xfrm>
          <a:prstGeom prst="roundRect">
            <a:avLst>
              <a:gd name="adj" fmla="val 30000"/>
            </a:avLst>
          </a:prstGeom>
          <a:solidFill>
            <a:srgbClr val="1A3A55"/>
          </a:solidFill>
          <a:ln w="12700">
            <a:solidFill>
              <a:srgbClr val="00A3E0"/>
            </a:solidFill>
          </a:ln>
        </p:spPr>
        <p:txBody>
          <a:bodyPr/>
          <a:lstStyle/>
          <a:p/>
        </p:txBody>
      </p:sp>
      <p:sp>
        <p:nvSpPr>
          <p:cNvPr id="321" name="t321"/>
          <p:cNvSpPr txBox="1">
            <a:spLocks noGrp="1"/>
          </p:cNvSpPr>
          <p:nvPr/>
        </p:nvSpPr>
        <p:spPr>
          <a:xfrm>
            <a:off x="2448000" y="1494000"/>
            <a:ext cx="1655999" cy="288000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/>
            <a:r>
              <a:rPr lang="en-US" sz="1800" b="1" i="0" dirty="0">
                <a:solidFill>
                  <a:srgbClr val="00A3E0"/>
                </a:solidFill>
              </a:rPr>
              <a:t>5 Live Systems</a:t>
            </a:r>
          </a:p>
        </p:txBody>
      </p:sp>
      <p:sp>
        <p:nvSpPr>
          <p:cNvPr id="331" name="t331"/>
          <p:cNvSpPr txBox="1">
            <a:spLocks noGrp="1"/>
          </p:cNvSpPr>
          <p:nvPr/>
        </p:nvSpPr>
        <p:spPr>
          <a:xfrm>
            <a:off x="2448000" y="1746000"/>
            <a:ext cx="1655999" cy="468000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/>
            <a:r>
              <a:rPr lang="en-US" sz="1300" b="0" i="0" dirty="0">
                <a:solidFill>
                  <a:srgbClr val="B0D4EC"/>
                </a:solidFill>
              </a:rPr>
              <a:t>S/4 HANA · AIS Tracking · GDELT
Geopolitical · BTP · TSW OData</a:t>
            </a:r>
          </a:p>
        </p:txBody>
      </p:sp>
      <p:sp>
        <p:nvSpPr>
          <p:cNvPr id="312" name="b312"/>
          <p:cNvSpPr>
            <a:spLocks noGrp="1"/>
          </p:cNvSpPr>
          <p:nvPr/>
        </p:nvSpPr>
        <p:spPr>
          <a:xfrm>
            <a:off x="4320000" y="1440000"/>
            <a:ext cx="1800000" cy="864000"/>
          </a:xfrm>
          <a:prstGeom prst="roundRect">
            <a:avLst>
              <a:gd name="adj" fmla="val 30000"/>
            </a:avLst>
          </a:prstGeom>
          <a:solidFill>
            <a:srgbClr val="1A3A55"/>
          </a:solidFill>
          <a:ln w="12700">
            <a:solidFill>
              <a:srgbClr val="00A3E0"/>
            </a:solidFill>
          </a:ln>
        </p:spPr>
        <p:txBody>
          <a:bodyPr/>
          <a:lstStyle/>
          <a:p/>
        </p:txBody>
      </p:sp>
      <p:sp>
        <p:nvSpPr>
          <p:cNvPr id="322" name="t322"/>
          <p:cNvSpPr txBox="1">
            <a:spLocks noGrp="1"/>
          </p:cNvSpPr>
          <p:nvPr/>
        </p:nvSpPr>
        <p:spPr>
          <a:xfrm>
            <a:off x="4392000" y="1494000"/>
            <a:ext cx="1655999" cy="288000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/>
            <a:r>
              <a:rPr lang="en-US" sz="1800" b="1" i="0" dirty="0">
                <a:solidFill>
                  <a:srgbClr val="00A3E0"/>
                </a:solidFill>
              </a:rPr>
              <a:t>End-to-End</a:t>
            </a:r>
          </a:p>
        </p:txBody>
      </p:sp>
      <p:sp>
        <p:nvSpPr>
          <p:cNvPr id="332" name="t332"/>
          <p:cNvSpPr txBox="1">
            <a:spLocks noGrp="1"/>
          </p:cNvSpPr>
          <p:nvPr/>
        </p:nvSpPr>
        <p:spPr>
          <a:xfrm>
            <a:off x="4392000" y="1746000"/>
            <a:ext cx="1655999" cy="468000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/>
            <a:r>
              <a:rPr lang="en-US" sz="1300" b="0" i="0" dirty="0">
                <a:solidFill>
                  <a:srgbClr val="B0D4EC"/>
                </a:solidFill>
              </a:rPr>
              <a:t>From open nomination to
approved ETA in SAP TSW</a:t>
            </a:r>
          </a:p>
        </p:txBody>
      </p:sp>
      <p:sp>
        <p:nvSpPr>
          <p:cNvPr id="203" name="t203"/>
          <p:cNvSpPr txBox="1">
            <a:spLocks noGrp="1"/>
          </p:cNvSpPr>
          <p:nvPr/>
        </p:nvSpPr>
        <p:spPr>
          <a:xfrm>
            <a:off x="432000" y="2520000"/>
            <a:ext cx="5616000" cy="576000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/>
            <a:r>
              <a:rPr lang="en-US" sz="1400" b="0" i="0" dirty="0">
                <a:solidFill>
                  <a:srgbClr val="B0D4EC"/>
                </a:solidFill>
              </a:rPr>
              <a:t>The TSW ETA Intelligence Agent integrates SAP S/4 HANA TSW nominations with live AIS vessel tracking, geopolitical risk intelligence (GDELT), historical voyage analysis, and carrier performance data to compute risk-adjusted ETAs.  The Tank Reconciliation Agent reads ATG gauge data, applies VCF correction, and posts goods movements directly to S/4 HANA IS-OIL HPM.</a:t>
            </a:r>
          </a:p>
        </p:txBody>
      </p:sp>
      <p:sp>
        <p:nvSpPr>
          <p:cNvPr id="340" name="b340"/>
          <p:cNvSpPr>
            <a:spLocks noGrp="1"/>
          </p:cNvSpPr>
          <p:nvPr/>
        </p:nvSpPr>
        <p:spPr>
          <a:xfrm>
            <a:off x="432000" y="3240000"/>
            <a:ext cx="1800000" cy="234000"/>
          </a:xfrm>
          <a:prstGeom prst="rect">
            <a:avLst/>
          </a:prstGeom>
          <a:solidFill>
            <a:srgbClr val="0A1E30"/>
          </a:solidFill>
          <a:ln w="12700">
            <a:solidFill>
              <a:srgbClr val="00A3E0"/>
            </a:solidFill>
          </a:ln>
        </p:spPr>
        <p:txBody>
          <a:bodyPr/>
          <a:lstStyle/>
          <a:p/>
        </p:txBody>
      </p:sp>
      <p:sp>
        <p:nvSpPr>
          <p:cNvPr id="350" name="t350"/>
          <p:cNvSpPr txBox="1">
            <a:spLocks noGrp="1"/>
          </p:cNvSpPr>
          <p:nvPr/>
        </p:nvSpPr>
        <p:spPr>
          <a:xfrm>
            <a:off x="486000" y="3268800"/>
            <a:ext cx="1692000" cy="198000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/>
            <a:r>
              <a:rPr lang="en-US" sz="1200" b="0" i="0" dirty="0">
                <a:solidFill>
                  <a:srgbClr val="FFFFFF"/>
                </a:solidFill>
              </a:rPr>
              <a:t>Python · LangGraph · LangChain</a:t>
            </a:r>
          </a:p>
        </p:txBody>
      </p:sp>
      <p:sp>
        <p:nvSpPr>
          <p:cNvPr id="341" name="b341"/>
          <p:cNvSpPr>
            <a:spLocks noGrp="1"/>
          </p:cNvSpPr>
          <p:nvPr/>
        </p:nvSpPr>
        <p:spPr>
          <a:xfrm>
            <a:off x="2376000" y="3240000"/>
            <a:ext cx="1800000" cy="234000"/>
          </a:xfrm>
          <a:prstGeom prst="rect">
            <a:avLst/>
          </a:prstGeom>
          <a:solidFill>
            <a:srgbClr val="0A1E30"/>
          </a:solidFill>
          <a:ln w="12700">
            <a:solidFill>
              <a:srgbClr val="00A3E0"/>
            </a:solidFill>
          </a:ln>
        </p:spPr>
        <p:txBody>
          <a:bodyPr/>
          <a:lstStyle/>
          <a:p/>
        </p:txBody>
      </p:sp>
      <p:sp>
        <p:nvSpPr>
          <p:cNvPr id="351" name="t351"/>
          <p:cNvSpPr txBox="1">
            <a:spLocks noGrp="1"/>
          </p:cNvSpPr>
          <p:nvPr/>
        </p:nvSpPr>
        <p:spPr>
          <a:xfrm>
            <a:off x="2430000" y="3268800"/>
            <a:ext cx="1692000" cy="198000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/>
            <a:r>
              <a:rPr lang="en-US" sz="1200" b="0" i="0" dirty="0">
                <a:solidFill>
                  <a:srgbClr val="FFFFFF"/>
                </a:solidFill>
              </a:rPr>
              <a:t>SAP BTP Cloud Foundry</a:t>
            </a:r>
          </a:p>
        </p:txBody>
      </p:sp>
      <p:sp>
        <p:nvSpPr>
          <p:cNvPr id="342" name="b342"/>
          <p:cNvSpPr>
            <a:spLocks noGrp="1"/>
          </p:cNvSpPr>
          <p:nvPr/>
        </p:nvSpPr>
        <p:spPr>
          <a:xfrm>
            <a:off x="4320000" y="3240000"/>
            <a:ext cx="1800000" cy="234000"/>
          </a:xfrm>
          <a:prstGeom prst="rect">
            <a:avLst/>
          </a:prstGeom>
          <a:solidFill>
            <a:srgbClr val="0A1E30"/>
          </a:solidFill>
          <a:ln w="12700">
            <a:solidFill>
              <a:srgbClr val="00A3E0"/>
            </a:solidFill>
          </a:ln>
        </p:spPr>
        <p:txBody>
          <a:bodyPr/>
          <a:lstStyle/>
          <a:p/>
        </p:txBody>
      </p:sp>
      <p:sp>
        <p:nvSpPr>
          <p:cNvPr id="352" name="t352"/>
          <p:cNvSpPr txBox="1">
            <a:spLocks noGrp="1"/>
          </p:cNvSpPr>
          <p:nvPr/>
        </p:nvSpPr>
        <p:spPr>
          <a:xfrm>
            <a:off x="4374000" y="3268800"/>
            <a:ext cx="1692000" cy="198000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/>
            <a:r>
              <a:rPr lang="en-US" sz="1200" b="0" i="0" dirty="0">
                <a:solidFill>
                  <a:srgbClr val="FFFFFF"/>
                </a:solidFill>
              </a:rPr>
              <a:t>SAP AI Core (GPT-4o)</a:t>
            </a:r>
          </a:p>
        </p:txBody>
      </p:sp>
      <p:sp>
        <p:nvSpPr>
          <p:cNvPr id="343" name="b343"/>
          <p:cNvSpPr>
            <a:spLocks noGrp="1"/>
          </p:cNvSpPr>
          <p:nvPr/>
        </p:nvSpPr>
        <p:spPr>
          <a:xfrm>
            <a:off x="432000" y="3564000"/>
            <a:ext cx="1800000" cy="234000"/>
          </a:xfrm>
          <a:prstGeom prst="rect">
            <a:avLst/>
          </a:prstGeom>
          <a:solidFill>
            <a:srgbClr val="0A1E30"/>
          </a:solidFill>
          <a:ln w="12700">
            <a:solidFill>
              <a:srgbClr val="00A3E0"/>
            </a:solidFill>
          </a:ln>
        </p:spPr>
        <p:txBody>
          <a:bodyPr/>
          <a:lstStyle/>
          <a:p/>
        </p:txBody>
      </p:sp>
      <p:sp>
        <p:nvSpPr>
          <p:cNvPr id="353" name="t353"/>
          <p:cNvSpPr txBox="1">
            <a:spLocks noGrp="1"/>
          </p:cNvSpPr>
          <p:nvPr/>
        </p:nvSpPr>
        <p:spPr>
          <a:xfrm>
            <a:off x="486000" y="3592800"/>
            <a:ext cx="1692000" cy="198000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/>
            <a:r>
              <a:rPr lang="en-US" sz="1200" b="0" i="0" dirty="0">
                <a:solidFill>
                  <a:srgbClr val="FFFFFF"/>
                </a:solidFill>
              </a:rPr>
              <a:t>OData v2/v4 · REST APIs</a:t>
            </a:r>
          </a:p>
        </p:txBody>
      </p:sp>
      <p:sp>
        <p:nvSpPr>
          <p:cNvPr id="344" name="b344"/>
          <p:cNvSpPr>
            <a:spLocks noGrp="1"/>
          </p:cNvSpPr>
          <p:nvPr/>
        </p:nvSpPr>
        <p:spPr>
          <a:xfrm>
            <a:off x="2376000" y="3564000"/>
            <a:ext cx="1800000" cy="234000"/>
          </a:xfrm>
          <a:prstGeom prst="rect">
            <a:avLst/>
          </a:prstGeom>
          <a:solidFill>
            <a:srgbClr val="0A1E30"/>
          </a:solidFill>
          <a:ln w="12700">
            <a:solidFill>
              <a:srgbClr val="00A3E0"/>
            </a:solidFill>
          </a:ln>
        </p:spPr>
        <p:txBody>
          <a:bodyPr/>
          <a:lstStyle/>
          <a:p/>
        </p:txBody>
      </p:sp>
      <p:sp>
        <p:nvSpPr>
          <p:cNvPr id="354" name="t354"/>
          <p:cNvSpPr txBox="1">
            <a:spLocks noGrp="1"/>
          </p:cNvSpPr>
          <p:nvPr/>
        </p:nvSpPr>
        <p:spPr>
          <a:xfrm>
            <a:off x="2430000" y="3592800"/>
            <a:ext cx="1692000" cy="198000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/>
            <a:r>
              <a:rPr lang="en-US" sz="1200" b="0" i="0" dirty="0">
                <a:solidFill>
                  <a:srgbClr val="FFFFFF"/>
                </a:solidFill>
              </a:rPr>
              <a:t>React + SAP UI5 Web Components</a:t>
            </a:r>
          </a:p>
        </p:txBody>
      </p:sp>
      <p:sp>
        <p:nvSpPr>
          <p:cNvPr id="345" name="b345"/>
          <p:cNvSpPr>
            <a:spLocks noGrp="1"/>
          </p:cNvSpPr>
          <p:nvPr/>
        </p:nvSpPr>
        <p:spPr>
          <a:xfrm>
            <a:off x="4320000" y="3564000"/>
            <a:ext cx="1800000" cy="234000"/>
          </a:xfrm>
          <a:prstGeom prst="rect">
            <a:avLst/>
          </a:prstGeom>
          <a:solidFill>
            <a:srgbClr val="0A1E30"/>
          </a:solidFill>
          <a:ln w="12700">
            <a:solidFill>
              <a:srgbClr val="00A3E0"/>
            </a:solidFill>
          </a:ln>
        </p:spPr>
        <p:txBody>
          <a:bodyPr/>
          <a:lstStyle/>
          <a:p/>
        </p:txBody>
      </p:sp>
      <p:sp>
        <p:nvSpPr>
          <p:cNvPr id="355" name="t355"/>
          <p:cNvSpPr txBox="1">
            <a:spLocks noGrp="1"/>
          </p:cNvSpPr>
          <p:nvPr/>
        </p:nvSpPr>
        <p:spPr>
          <a:xfrm>
            <a:off x="4374000" y="3592800"/>
            <a:ext cx="1692000" cy="198000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/>
            <a:r>
              <a:rPr lang="en-US" sz="1200" b="0" i="0" dirty="0">
                <a:solidFill>
                  <a:srgbClr val="FFFFFF"/>
                </a:solidFill>
              </a:rPr>
              <a:t>n8n Workflow Automation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r="http://schemas.openxmlformats.org/officeDocument/2006/relationships" xmlns:a="http://schemas.openxmlformats.org/drawingml/2006/main" show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21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02" name="b102"/>
          <p:cNvSpPr>
            <a:spLocks noGrp="1"/>
          </p:cNvSpPr>
          <p:nvPr/>
        </p:nvSpPr>
        <p:spPr>
          <a:xfrm>
            <a:off x="0" y="0"/>
            <a:ext cx="180000" cy="5184000"/>
          </a:xfrm>
          <a:prstGeom prst="rect">
            <a:avLst/>
          </a:prstGeom>
          <a:solidFill>
            <a:srgbClr val="F0A5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01" name="t201"/>
          <p:cNvSpPr txBox="1">
            <a:spLocks noGrp="1"/>
          </p:cNvSpPr>
          <p:nvPr/>
        </p:nvSpPr>
        <p:spPr>
          <a:xfrm>
            <a:off x="432000" y="144000"/>
            <a:ext cx="5616000" cy="324000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/>
            <a:r>
              <a:rPr lang="en-US" sz="2800" b="1" i="0" dirty="0">
                <a:solidFill>
                  <a:srgbClr val="FFFFFF"/>
                </a:solidFill>
              </a:rPr>
              <a:t>TSW ETA Agent — 9-Step Intelligence Flow</a:t>
            </a:r>
          </a:p>
        </p:txBody>
      </p:sp>
      <p:sp>
        <p:nvSpPr>
          <p:cNvPr id="202" name="t202"/>
          <p:cNvSpPr txBox="1">
            <a:spLocks noGrp="1"/>
          </p:cNvSpPr>
          <p:nvPr/>
        </p:nvSpPr>
        <p:spPr>
          <a:xfrm>
            <a:off x="432000" y="486000"/>
            <a:ext cx="5616000" cy="180000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/>
            <a:r>
              <a:rPr lang="en-US" sz="1400" b="0" i="0" dirty="0">
                <a:solidFill>
                  <a:srgbClr val="B0D4EC"/>
                </a:solidFill>
              </a:rPr>
              <a:t>All 6 data steps execute automatically · Supervisor approves final ETA</a:t>
            </a:r>
          </a:p>
        </p:txBody>
      </p:sp>
      <p:sp>
        <p:nvSpPr>
          <p:cNvPr id="101" name="bar"/>
          <p:cNvSpPr>
            <a:spLocks noGrp="1"/>
          </p:cNvSpPr>
          <p:nvPr/>
        </p:nvSpPr>
        <p:spPr>
          <a:xfrm>
            <a:off x="432000" y="684000"/>
            <a:ext cx="5616000" cy="21600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txBody>
          <a:bodyPr/>
          <a:lstStyle/>
          <a:p/>
        </p:txBody>
      </p:sp>
      <p:sp>
        <p:nvSpPr>
          <p:cNvPr id="300" name="b300"/>
          <p:cNvSpPr>
            <a:spLocks noGrp="1"/>
          </p:cNvSpPr>
          <p:nvPr/>
        </p:nvSpPr>
        <p:spPr>
          <a:xfrm>
            <a:off x="288000" y="774000"/>
            <a:ext cx="1800000" cy="917999"/>
          </a:xfrm>
          <a:prstGeom prst="roundRect">
            <a:avLst>
              <a:gd name="adj" fmla="val 30000"/>
            </a:avLst>
          </a:prstGeom>
          <a:solidFill>
            <a:srgbClr val="00A3E0"/>
          </a:solidFill>
          <a:ln w="12700">
            <a:solidFill>
              <a:srgbClr val="00A3E0"/>
            </a:solidFill>
          </a:ln>
        </p:spPr>
        <p:txBody>
          <a:bodyPr/>
          <a:lstStyle/>
          <a:p/>
        </p:txBody>
      </p:sp>
      <p:sp>
        <p:nvSpPr>
          <p:cNvPr id="400" name="t400"/>
          <p:cNvSpPr txBox="1">
            <a:spLocks noGrp="1"/>
          </p:cNvSpPr>
          <p:nvPr/>
        </p:nvSpPr>
        <p:spPr>
          <a:xfrm>
            <a:off x="352800" y="817200"/>
            <a:ext cx="1670400" cy="216000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/>
            <a:r>
              <a:rPr lang="en-US" sz="1300" b="1" i="0" dirty="0">
                <a:solidFill>
                  <a:srgbClr val="FFFFFF"/>
                </a:solidFill>
              </a:rPr>
              <a:t>1 · Fetch Nomination</a:t>
            </a:r>
          </a:p>
        </p:txBody>
      </p:sp>
      <p:sp>
        <p:nvSpPr>
          <p:cNvPr id="500" name="t500"/>
          <p:cNvSpPr txBox="1">
            <a:spLocks noGrp="1"/>
          </p:cNvSpPr>
          <p:nvPr/>
        </p:nvSpPr>
        <p:spPr>
          <a:xfrm>
            <a:off x="352800" y="1033200"/>
            <a:ext cx="1670400" cy="612000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/>
            <a:r>
              <a:rPr lang="en-US" sz="1100" b="0" i="0" dirty="0">
                <a:solidFill>
                  <a:srgbClr val="B0D4EC"/>
                </a:solidFill>
              </a:rPr>
              <a:t>get_nomination
Extracts: Location, Material,
Transport, Scheduled Date, Carrier</a:t>
            </a:r>
          </a:p>
        </p:txBody>
      </p:sp>
      <p:sp>
        <p:nvSpPr>
          <p:cNvPr id="301" name="b301"/>
          <p:cNvSpPr>
            <a:spLocks noGrp="1"/>
          </p:cNvSpPr>
          <p:nvPr/>
        </p:nvSpPr>
        <p:spPr>
          <a:xfrm>
            <a:off x="2196000" y="774000"/>
            <a:ext cx="1800000" cy="917999"/>
          </a:xfrm>
          <a:prstGeom prst="roundRect">
            <a:avLst>
              <a:gd name="adj" fmla="val 30000"/>
            </a:avLst>
          </a:prstGeom>
          <a:solidFill>
            <a:srgbClr val="1A3A55"/>
          </a:solidFill>
          <a:ln w="12700">
            <a:solidFill>
              <a:srgbClr val="00A3E0"/>
            </a:solidFill>
          </a:ln>
        </p:spPr>
        <p:txBody>
          <a:bodyPr/>
          <a:lstStyle/>
          <a:p/>
        </p:txBody>
      </p:sp>
      <p:sp>
        <p:nvSpPr>
          <p:cNvPr id="401" name="t401"/>
          <p:cNvSpPr txBox="1">
            <a:spLocks noGrp="1"/>
          </p:cNvSpPr>
          <p:nvPr/>
        </p:nvSpPr>
        <p:spPr>
          <a:xfrm>
            <a:off x="2260800" y="817200"/>
            <a:ext cx="1670400" cy="216000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/>
            <a:r>
              <a:rPr lang="en-US" sz="1300" b="1" i="0" dirty="0">
                <a:solidFill>
                  <a:srgbClr val="FFFFFF"/>
                </a:solidFill>
              </a:rPr>
              <a:t>2 · Live Vessel (AIS)</a:t>
            </a:r>
          </a:p>
        </p:txBody>
      </p:sp>
      <p:sp>
        <p:nvSpPr>
          <p:cNvPr id="501" name="t501"/>
          <p:cNvSpPr txBox="1">
            <a:spLocks noGrp="1"/>
          </p:cNvSpPr>
          <p:nvPr/>
        </p:nvSpPr>
        <p:spPr>
          <a:xfrm>
            <a:off x="2260800" y="1033200"/>
            <a:ext cx="1670400" cy="612000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/>
            <a:r>
              <a:rPr lang="en-US" sz="1100" b="0" i="0" dirty="0">
                <a:solidFill>
                  <a:srgbClr val="B0D4EC"/>
                </a:solidFill>
              </a:rPr>
              <a:t>get_port_vessel_etas
myshiptracking_lookup
Live ETA UTC from AIS transponder</a:t>
            </a:r>
          </a:p>
        </p:txBody>
      </p:sp>
      <p:sp>
        <p:nvSpPr>
          <p:cNvPr id="302" name="b302"/>
          <p:cNvSpPr>
            <a:spLocks noGrp="1"/>
          </p:cNvSpPr>
          <p:nvPr/>
        </p:nvSpPr>
        <p:spPr>
          <a:xfrm>
            <a:off x="4104000" y="774000"/>
            <a:ext cx="1800000" cy="917999"/>
          </a:xfrm>
          <a:prstGeom prst="roundRect">
            <a:avLst>
              <a:gd name="adj" fmla="val 30000"/>
            </a:avLst>
          </a:prstGeom>
          <a:solidFill>
            <a:srgbClr val="1A3A55"/>
          </a:solidFill>
          <a:ln w="12700">
            <a:solidFill>
              <a:srgbClr val="00A3E0"/>
            </a:solidFill>
          </a:ln>
        </p:spPr>
        <p:txBody>
          <a:bodyPr/>
          <a:lstStyle/>
          <a:p/>
        </p:txBody>
      </p:sp>
      <p:sp>
        <p:nvSpPr>
          <p:cNvPr id="402" name="t402"/>
          <p:cNvSpPr txBox="1">
            <a:spLocks noGrp="1"/>
          </p:cNvSpPr>
          <p:nvPr/>
        </p:nvSpPr>
        <p:spPr>
          <a:xfrm>
            <a:off x="4168800" y="817200"/>
            <a:ext cx="1670400" cy="216000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/>
            <a:r>
              <a:rPr lang="en-US" sz="1300" b="1" i="0" dirty="0">
                <a:solidFill>
                  <a:srgbClr val="FFFFFF"/>
                </a:solidFill>
              </a:rPr>
              <a:t>3 · Historical Patterns</a:t>
            </a:r>
          </a:p>
        </p:txBody>
      </p:sp>
      <p:sp>
        <p:nvSpPr>
          <p:cNvPr id="502" name="t502"/>
          <p:cNvSpPr txBox="1">
            <a:spLocks noGrp="1"/>
          </p:cNvSpPr>
          <p:nvPr/>
        </p:nvSpPr>
        <p:spPr>
          <a:xfrm>
            <a:off x="4168800" y="1033200"/>
            <a:ext cx="1670400" cy="612000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/>
            <a:r>
              <a:rPr lang="en-US" sz="1100" b="0" i="0" dirty="0">
                <a:solidFill>
                  <a:srgbClr val="B0D4EC"/>
                </a:solidFill>
              </a:rPr>
              <a:t>get_nomination_history
Avg lead time days by
material × location × transport</a:t>
            </a:r>
          </a:p>
        </p:txBody>
      </p:sp>
      <p:sp>
        <p:nvSpPr>
          <p:cNvPr id="303" name="b303"/>
          <p:cNvSpPr>
            <a:spLocks noGrp="1"/>
          </p:cNvSpPr>
          <p:nvPr/>
        </p:nvSpPr>
        <p:spPr>
          <a:xfrm>
            <a:off x="288000" y="1771199"/>
            <a:ext cx="1800000" cy="917999"/>
          </a:xfrm>
          <a:prstGeom prst="roundRect">
            <a:avLst>
              <a:gd name="adj" fmla="val 30000"/>
            </a:avLst>
          </a:prstGeom>
          <a:solidFill>
            <a:srgbClr val="1A3A55"/>
          </a:solidFill>
          <a:ln w="12700">
            <a:solidFill>
              <a:srgbClr val="00A3E0"/>
            </a:solidFill>
          </a:ln>
        </p:spPr>
        <p:txBody>
          <a:bodyPr/>
          <a:lstStyle/>
          <a:p/>
        </p:txBody>
      </p:sp>
      <p:sp>
        <p:nvSpPr>
          <p:cNvPr id="403" name="t403"/>
          <p:cNvSpPr txBox="1">
            <a:spLocks noGrp="1"/>
          </p:cNvSpPr>
          <p:nvPr/>
        </p:nvSpPr>
        <p:spPr>
          <a:xfrm>
            <a:off x="352800" y="1814399"/>
            <a:ext cx="1670400" cy="216000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/>
            <a:r>
              <a:rPr lang="en-US" sz="1300" b="1" i="0" dirty="0">
                <a:solidFill>
                  <a:srgbClr val="FFFFFF"/>
                </a:solidFill>
              </a:rPr>
              <a:t>4 · Carrier Performance</a:t>
            </a:r>
          </a:p>
        </p:txBody>
      </p:sp>
      <p:sp>
        <p:nvSpPr>
          <p:cNvPr id="503" name="t503"/>
          <p:cNvSpPr txBox="1">
            <a:spLocks noGrp="1"/>
          </p:cNvSpPr>
          <p:nvPr/>
        </p:nvSpPr>
        <p:spPr>
          <a:xfrm>
            <a:off x="352800" y="2030399"/>
            <a:ext cx="1670400" cy="612000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/>
            <a:r>
              <a:rPr lang="en-US" sz="1100" b="0" i="0" dirty="0">
                <a:solidFill>
                  <a:srgbClr val="B0D4EC"/>
                </a:solidFill>
              </a:rPr>
              <a:t>analyze_carrier_performance
Avg delay days, on-time %
for this carrier</a:t>
            </a:r>
          </a:p>
        </p:txBody>
      </p:sp>
      <p:sp>
        <p:nvSpPr>
          <p:cNvPr id="304" name="b304"/>
          <p:cNvSpPr>
            <a:spLocks noGrp="1"/>
          </p:cNvSpPr>
          <p:nvPr/>
        </p:nvSpPr>
        <p:spPr>
          <a:xfrm>
            <a:off x="2196000" y="1771199"/>
            <a:ext cx="1800000" cy="917999"/>
          </a:xfrm>
          <a:prstGeom prst="roundRect">
            <a:avLst>
              <a:gd name="adj" fmla="val 30000"/>
            </a:avLst>
          </a:prstGeom>
          <a:solidFill>
            <a:srgbClr val="1A3A55"/>
          </a:solidFill>
          <a:ln w="12700">
            <a:solidFill>
              <a:srgbClr val="00A3E0"/>
            </a:solidFill>
          </a:ln>
        </p:spPr>
        <p:txBody>
          <a:bodyPr/>
          <a:lstStyle/>
          <a:p/>
        </p:txBody>
      </p:sp>
      <p:sp>
        <p:nvSpPr>
          <p:cNvPr id="404" name="t404"/>
          <p:cNvSpPr txBox="1">
            <a:spLocks noGrp="1"/>
          </p:cNvSpPr>
          <p:nvPr/>
        </p:nvSpPr>
        <p:spPr>
          <a:xfrm>
            <a:off x="2260800" y="1814399"/>
            <a:ext cx="1670400" cy="216000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/>
            <a:r>
              <a:rPr lang="en-US" sz="1300" b="1" i="0" dirty="0">
                <a:solidFill>
                  <a:srgbClr val="FFFFFF"/>
                </a:solidFill>
              </a:rPr>
              <a:t>5 · Geopolitical Risk</a:t>
            </a:r>
          </a:p>
        </p:txBody>
      </p:sp>
      <p:sp>
        <p:nvSpPr>
          <p:cNvPr id="504" name="t504"/>
          <p:cNvSpPr txBox="1">
            <a:spLocks noGrp="1"/>
          </p:cNvSpPr>
          <p:nvPr/>
        </p:nvSpPr>
        <p:spPr>
          <a:xfrm>
            <a:off x="2260800" y="2030399"/>
            <a:ext cx="1670400" cy="612000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/>
            <a:r>
              <a:rPr lang="en-US" sz="1100" b="0" i="0" dirty="0">
                <a:solidFill>
                  <a:srgbClr val="B0D4EC"/>
                </a:solidFill>
              </a:rPr>
              <a:t>get_geopolitical_risk (GDELT)
Risk level + buffer days
for route &amp; date</a:t>
            </a:r>
          </a:p>
        </p:txBody>
      </p:sp>
      <p:sp>
        <p:nvSpPr>
          <p:cNvPr id="305" name="b305"/>
          <p:cNvSpPr>
            <a:spLocks noGrp="1"/>
          </p:cNvSpPr>
          <p:nvPr/>
        </p:nvSpPr>
        <p:spPr>
          <a:xfrm>
            <a:off x="4104000" y="1771199"/>
            <a:ext cx="1800000" cy="917999"/>
          </a:xfrm>
          <a:prstGeom prst="roundRect">
            <a:avLst>
              <a:gd name="adj" fmla="val 30000"/>
            </a:avLst>
          </a:prstGeom>
          <a:solidFill>
            <a:srgbClr val="1A3A55"/>
          </a:solidFill>
          <a:ln w="12700">
            <a:solidFill>
              <a:srgbClr val="00A3E0"/>
            </a:solidFill>
          </a:ln>
        </p:spPr>
        <p:txBody>
          <a:bodyPr/>
          <a:lstStyle/>
          <a:p/>
        </p:txBody>
      </p:sp>
      <p:sp>
        <p:nvSpPr>
          <p:cNvPr id="405" name="t405"/>
          <p:cNvSpPr txBox="1">
            <a:spLocks noGrp="1"/>
          </p:cNvSpPr>
          <p:nvPr/>
        </p:nvSpPr>
        <p:spPr>
          <a:xfrm>
            <a:off x="4168800" y="1814399"/>
            <a:ext cx="1670400" cy="216000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/>
            <a:r>
              <a:rPr lang="en-US" sz="1300" b="1" i="0" dirty="0">
                <a:solidFill>
                  <a:srgbClr val="FFFFFF"/>
                </a:solidFill>
              </a:rPr>
              <a:t>6 · Calculate ETA</a:t>
            </a:r>
          </a:p>
        </p:txBody>
      </p:sp>
      <p:sp>
        <p:nvSpPr>
          <p:cNvPr id="505" name="t505"/>
          <p:cNvSpPr txBox="1">
            <a:spLocks noGrp="1"/>
          </p:cNvSpPr>
          <p:nvPr/>
        </p:nvSpPr>
        <p:spPr>
          <a:xfrm>
            <a:off x="4168800" y="2030399"/>
            <a:ext cx="1670400" cy="612000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/>
            <a:r>
              <a:rPr lang="en-US" sz="1100" b="0" i="0" dirty="0">
                <a:solidFill>
                  <a:srgbClr val="B0D4EC"/>
                </a:solidFill>
              </a:rPr>
              <a:t>calculate_eta_intelligence
Base ETA + adjustments =
Recommended ETA + Confidence</a:t>
            </a:r>
          </a:p>
        </p:txBody>
      </p:sp>
      <p:sp>
        <p:nvSpPr>
          <p:cNvPr id="306" name="b306"/>
          <p:cNvSpPr>
            <a:spLocks noGrp="1"/>
          </p:cNvSpPr>
          <p:nvPr/>
        </p:nvSpPr>
        <p:spPr>
          <a:xfrm>
            <a:off x="288000" y="2768398"/>
            <a:ext cx="1800000" cy="917999"/>
          </a:xfrm>
          <a:prstGeom prst="roundRect">
            <a:avLst>
              <a:gd name="adj" fmla="val 30000"/>
            </a:avLst>
          </a:prstGeom>
          <a:solidFill>
            <a:srgbClr val="2ECC71"/>
          </a:solidFill>
          <a:ln w="12700">
            <a:solidFill>
              <a:srgbClr val="00A3E0"/>
            </a:solidFill>
          </a:ln>
        </p:spPr>
        <p:txBody>
          <a:bodyPr/>
          <a:lstStyle/>
          <a:p/>
        </p:txBody>
      </p:sp>
      <p:sp>
        <p:nvSpPr>
          <p:cNvPr id="406" name="t406"/>
          <p:cNvSpPr txBox="1">
            <a:spLocks noGrp="1"/>
          </p:cNvSpPr>
          <p:nvPr/>
        </p:nvSpPr>
        <p:spPr>
          <a:xfrm>
            <a:off x="352800" y="2811598"/>
            <a:ext cx="1670400" cy="216000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/>
            <a:r>
              <a:rPr lang="en-US" sz="1300" b="1" i="0" dirty="0">
                <a:solidFill>
                  <a:srgbClr val="FFFFFF"/>
                </a:solidFill>
              </a:rPr>
              <a:t>7 · Present Report</a:t>
            </a:r>
          </a:p>
        </p:txBody>
      </p:sp>
      <p:sp>
        <p:nvSpPr>
          <p:cNvPr id="506" name="t506"/>
          <p:cNvSpPr txBox="1">
            <a:spLocks noGrp="1"/>
          </p:cNvSpPr>
          <p:nvPr/>
        </p:nvSpPr>
        <p:spPr>
          <a:xfrm>
            <a:off x="352800" y="3027598"/>
            <a:ext cx="1670400" cy="612000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/>
            <a:r>
              <a:rPr lang="en-US" sz="1100" b="0" i="0" dirty="0">
                <a:solidFill>
                  <a:srgbClr val="B0D4EC"/>
                </a:solidFill>
              </a:rPr>
              <a:t>Markdown ETA Intelligence Report
Adjustment table, Data Sources
Approval prompt</a:t>
            </a:r>
          </a:p>
        </p:txBody>
      </p:sp>
      <p:sp>
        <p:nvSpPr>
          <p:cNvPr id="307" name="b307"/>
          <p:cNvSpPr>
            <a:spLocks noGrp="1"/>
          </p:cNvSpPr>
          <p:nvPr/>
        </p:nvSpPr>
        <p:spPr>
          <a:xfrm>
            <a:off x="2196000" y="2768398"/>
            <a:ext cx="1800000" cy="917999"/>
          </a:xfrm>
          <a:prstGeom prst="roundRect">
            <a:avLst>
              <a:gd name="adj" fmla="val 30000"/>
            </a:avLst>
          </a:prstGeom>
          <a:solidFill>
            <a:srgbClr val="0A1E30"/>
          </a:solidFill>
          <a:ln w="12700">
            <a:solidFill>
              <a:srgbClr val="00A3E0"/>
            </a:solidFill>
          </a:ln>
        </p:spPr>
        <p:txBody>
          <a:bodyPr/>
          <a:lstStyle/>
          <a:p/>
        </p:txBody>
      </p:sp>
      <p:sp>
        <p:nvSpPr>
          <p:cNvPr id="407" name="t407"/>
          <p:cNvSpPr txBox="1">
            <a:spLocks noGrp="1"/>
          </p:cNvSpPr>
          <p:nvPr/>
        </p:nvSpPr>
        <p:spPr>
          <a:xfrm>
            <a:off x="2260800" y="2811598"/>
            <a:ext cx="1670400" cy="216000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/>
            <a:r>
              <a:rPr lang="en-US" sz="1300" b="1" i="0" dirty="0">
                <a:solidFill>
                  <a:srgbClr val="FFFFFF"/>
                </a:solidFill>
              </a:rPr>
              <a:t>8 · Reject / Alternatives</a:t>
            </a:r>
          </a:p>
        </p:txBody>
      </p:sp>
      <p:sp>
        <p:nvSpPr>
          <p:cNvPr id="507" name="t507"/>
          <p:cNvSpPr txBox="1">
            <a:spLocks noGrp="1"/>
          </p:cNvSpPr>
          <p:nvPr/>
        </p:nvSpPr>
        <p:spPr>
          <a:xfrm>
            <a:off x="2260800" y="3027598"/>
            <a:ext cx="1670400" cy="612000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/>
            <a:r>
              <a:rPr lang="en-US" sz="1100" b="0" i="0" dirty="0">
                <a:solidFill>
                  <a:srgbClr val="B0D4EC"/>
                </a:solidFill>
              </a:rPr>
              <a:t>record_rejection_reason
get_nomination_history_deep
3 data-driven options table</a:t>
            </a:r>
          </a:p>
        </p:txBody>
      </p:sp>
      <p:sp>
        <p:nvSpPr>
          <p:cNvPr id="308" name="b308"/>
          <p:cNvSpPr>
            <a:spLocks noGrp="1"/>
          </p:cNvSpPr>
          <p:nvPr/>
        </p:nvSpPr>
        <p:spPr>
          <a:xfrm>
            <a:off x="4104000" y="2768398"/>
            <a:ext cx="1800000" cy="917999"/>
          </a:xfrm>
          <a:prstGeom prst="roundRect">
            <a:avLst>
              <a:gd name="adj" fmla="val 30000"/>
            </a:avLst>
          </a:prstGeom>
          <a:solidFill>
            <a:srgbClr val="F0A500"/>
          </a:solidFill>
          <a:ln w="12700">
            <a:solidFill>
              <a:srgbClr val="00A3E0"/>
            </a:solidFill>
          </a:ln>
        </p:spPr>
        <p:txBody>
          <a:bodyPr/>
          <a:lstStyle/>
          <a:p/>
        </p:txBody>
      </p:sp>
      <p:sp>
        <p:nvSpPr>
          <p:cNvPr id="408" name="t408"/>
          <p:cNvSpPr txBox="1">
            <a:spLocks noGrp="1"/>
          </p:cNvSpPr>
          <p:nvPr/>
        </p:nvSpPr>
        <p:spPr>
          <a:xfrm>
            <a:off x="4168800" y="2811598"/>
            <a:ext cx="1670400" cy="216000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/>
            <a:r>
              <a:rPr lang="en-US" sz="1300" b="1" i="0" dirty="0">
                <a:solidFill>
                  <a:srgbClr val="FFFFFF"/>
                </a:solidFill>
              </a:rPr>
              <a:t>9 · Approve &amp; Record</a:t>
            </a:r>
          </a:p>
        </p:txBody>
      </p:sp>
      <p:sp>
        <p:nvSpPr>
          <p:cNvPr id="508" name="t508"/>
          <p:cNvSpPr txBox="1">
            <a:spLocks noGrp="1"/>
          </p:cNvSpPr>
          <p:nvPr/>
        </p:nvSpPr>
        <p:spPr>
          <a:xfrm>
            <a:off x="4168800" y="3027598"/>
            <a:ext cx="1670400" cy="612000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/>
            <a:r>
              <a:rPr lang="en-US" sz="1100" b="0" i="0" dirty="0">
                <a:solidFill>
                  <a:srgbClr val="B0D4EC"/>
                </a:solidFill>
              </a:rPr>
              <a:t>update_nomination_eta
update_nomination_events
Written to SAP TSW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r="http://schemas.openxmlformats.org/officeDocument/2006/relationships" xmlns:a="http://schemas.openxmlformats.org/drawingml/2006/main" show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2137"/>
          </a:solidFill>
          <a:ln>
            <a:noFill/>
          </a:ln>
        </p:spPr>
        <p:txBody>
          <a:bodyPr/>
          <a:lstStyle/>
          <a:p/>
        </p:txBody>
      </p:sp>
      <p:sp>
        <p:nvSpPr>
          <p:cNvPr id="102" name="b102"/>
          <p:cNvSpPr>
            <a:spLocks noGrp="1"/>
          </p:cNvSpPr>
          <p:nvPr/>
        </p:nvSpPr>
        <p:spPr>
          <a:xfrm>
            <a:off x="0" y="0"/>
            <a:ext cx="180000" cy="51840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txBody>
          <a:bodyPr/>
          <a:lstStyle/>
          <a:p/>
        </p:txBody>
      </p:sp>
      <p:sp>
        <p:nvSpPr>
          <p:cNvPr id="201" name="t201"/>
          <p:cNvSpPr txBox="1">
            <a:spLocks noGrp="1"/>
          </p:cNvSpPr>
          <p:nvPr/>
        </p:nvSpPr>
        <p:spPr>
          <a:xfrm>
            <a:off x="432000" y="144000"/>
            <a:ext cx="5616000" cy="324000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/>
            <a:r>
              <a:rPr lang="en-US" sz="2800" b="1" i="0" dirty="0">
                <a:solidFill>
                  <a:srgbClr val="FFFFFF"/>
                </a:solidFill>
              </a:rPr>
              <a:t>System Integration Architecture</a:t>
            </a:r>
          </a:p>
        </p:txBody>
      </p:sp>
      <p:sp>
        <p:nvSpPr>
          <p:cNvPr id="202" name="t202"/>
          <p:cNvSpPr txBox="1">
            <a:spLocks noGrp="1"/>
          </p:cNvSpPr>
          <p:nvPr/>
        </p:nvSpPr>
        <p:spPr>
          <a:xfrm>
            <a:off x="432000" y="486000"/>
            <a:ext cx="5616000" cy="180000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/>
            <a:r>
              <a:rPr lang="en-US" sz="1400" b="0" i="0" dirty="0">
                <a:solidFill>
                  <a:srgbClr val="B0D4EC"/>
                </a:solidFill>
              </a:rPr>
              <a:t>All connections live — no hardcoded values · SAP OData + REST APIs</a:t>
            </a:r>
          </a:p>
        </p:txBody>
      </p:sp>
      <p:sp>
        <p:nvSpPr>
          <p:cNvPr id="101" name="bar"/>
          <p:cNvSpPr>
            <a:spLocks noGrp="1"/>
          </p:cNvSpPr>
          <p:nvPr/>
        </p:nvSpPr>
        <p:spPr>
          <a:xfrm>
            <a:off x="432000" y="684000"/>
            <a:ext cx="5616000" cy="21600"/>
          </a:xfrm>
          <a:prstGeom prst="rect">
            <a:avLst/>
          </a:prstGeom>
          <a:solidFill>
            <a:srgbClr val="00A3E0"/>
          </a:solidFill>
          <a:ln>
            <a:noFill/>
          </a:ln>
        </p:spPr>
        <p:txBody>
          <a:bodyPr/>
          <a:lstStyle/>
          <a:p/>
        </p:txBody>
      </p:sp>
      <p:sp>
        <p:nvSpPr>
          <p:cNvPr id="310" name="b310"/>
          <p:cNvSpPr>
            <a:spLocks noGrp="1"/>
          </p:cNvSpPr>
          <p:nvPr/>
        </p:nvSpPr>
        <p:spPr>
          <a:xfrm>
            <a:off x="2088000" y="792000"/>
            <a:ext cx="2340000" cy="1080000"/>
          </a:xfrm>
          <a:prstGeom prst="roundRect">
            <a:avLst>
              <a:gd name="adj" fmla="val 30000"/>
            </a:avLst>
          </a:prstGeom>
          <a:solidFill>
            <a:srgbClr val="0A2540"/>
          </a:solidFill>
          <a:ln w="12700">
            <a:solidFill>
              <a:srgbClr val="00A3E0"/>
            </a:solidFill>
          </a:ln>
        </p:spPr>
        <p:txBody>
          <a:bodyPr/>
          <a:lstStyle/>
          <a:p/>
        </p:txBody>
      </p:sp>
      <p:sp>
        <p:nvSpPr>
          <p:cNvPr id="411" name="t411"/>
          <p:cNvSpPr txBox="1">
            <a:spLocks noGrp="1"/>
          </p:cNvSpPr>
          <p:nvPr/>
        </p:nvSpPr>
        <p:spPr>
          <a:xfrm>
            <a:off x="2088000" y="827999"/>
            <a:ext cx="2340000" cy="198000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ctr"/>
            <a:r>
              <a:rPr lang="en-US" sz="1400" b="1" i="0" dirty="0">
                <a:solidFill>
                  <a:srgbClr val="00A3E0"/>
                </a:solidFill>
              </a:rPr>
              <a:t>SAP BTP — Cloud Foundry</a:t>
            </a:r>
          </a:p>
        </p:txBody>
      </p:sp>
      <p:sp>
        <p:nvSpPr>
          <p:cNvPr id="412" name="t412"/>
          <p:cNvSpPr txBox="1">
            <a:spLocks noGrp="1"/>
          </p:cNvSpPr>
          <p:nvPr/>
        </p:nvSpPr>
        <p:spPr>
          <a:xfrm>
            <a:off x="2088000" y="1044000"/>
            <a:ext cx="2340000" cy="162000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ctr"/>
            <a:r>
              <a:rPr lang="en-US" sz="1100" b="0" i="0" dirty="0">
                <a:solidFill>
                  <a:srgbClr val="FFFFFF"/>
                </a:solidFill>
              </a:rPr>
              <a:t>NominationETA Agent (Python / LangGraph)</a:t>
            </a:r>
          </a:p>
        </p:txBody>
      </p:sp>
      <p:sp>
        <p:nvSpPr>
          <p:cNvPr id="413" name="t413"/>
          <p:cNvSpPr txBox="1">
            <a:spLocks noGrp="1"/>
          </p:cNvSpPr>
          <p:nvPr/>
        </p:nvSpPr>
        <p:spPr>
          <a:xfrm>
            <a:off x="2088000" y="1206000"/>
            <a:ext cx="2340000" cy="162000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ctr"/>
            <a:r>
              <a:rPr lang="en-US" sz="1100" b="0" i="0" dirty="0">
                <a:solidFill>
                  <a:srgbClr val="FFFFFF"/>
                </a:solidFill>
              </a:rPr>
              <a:t>TankReconciliation Agent (Python / LangGraph)</a:t>
            </a:r>
          </a:p>
        </p:txBody>
      </p:sp>
      <p:sp>
        <p:nvSpPr>
          <p:cNvPr id="414" name="t414"/>
          <p:cNvSpPr txBox="1">
            <a:spLocks noGrp="1"/>
          </p:cNvSpPr>
          <p:nvPr/>
        </p:nvSpPr>
        <p:spPr>
          <a:xfrm>
            <a:off x="2088000" y="1368000"/>
            <a:ext cx="2340000" cy="162000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ctr"/>
            <a:r>
              <a:rPr lang="en-US" sz="1100" b="0" i="0" dirty="0">
                <a:solidFill>
                  <a:srgbClr val="FFFFFF"/>
                </a:solidFill>
              </a:rPr>
              <a:t>CAP Node.js Backend + React UI5 Dashboard</a:t>
            </a:r>
          </a:p>
        </p:txBody>
      </p:sp>
      <p:sp>
        <p:nvSpPr>
          <p:cNvPr id="415" name="t415"/>
          <p:cNvSpPr txBox="1">
            <a:spLocks noGrp="1"/>
          </p:cNvSpPr>
          <p:nvPr/>
        </p:nvSpPr>
        <p:spPr>
          <a:xfrm>
            <a:off x="2088000" y="1530000"/>
            <a:ext cx="2340000" cy="162000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ctr"/>
            <a:r>
              <a:rPr lang="en-US" sz="1100" b="0" i="0" dirty="0">
                <a:solidFill>
                  <a:srgbClr val="FFFFFF"/>
                </a:solidFill>
              </a:rPr>
              <a:t>n8n Reconciliation Workflow Engine</a:t>
            </a:r>
          </a:p>
        </p:txBody>
      </p:sp>
      <p:sp>
        <p:nvSpPr>
          <p:cNvPr id="416" name="t416"/>
          <p:cNvSpPr txBox="1">
            <a:spLocks noGrp="1"/>
          </p:cNvSpPr>
          <p:nvPr/>
        </p:nvSpPr>
        <p:spPr>
          <a:xfrm>
            <a:off x="2088000" y="1692000"/>
            <a:ext cx="2340000" cy="125999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ctr"/>
            <a:r>
              <a:rPr lang="en-US" sz="1100" b="0" i="0" dirty="0">
                <a:solidFill>
                  <a:srgbClr val="F0A500"/>
                </a:solidFill>
              </a:rPr>
              <a:t>SAP AI Core · GPT-4o</a:t>
            </a:r>
          </a:p>
        </p:txBody>
      </p:sp>
      <p:sp>
        <p:nvSpPr>
          <p:cNvPr id="320" name="b320"/>
          <p:cNvSpPr>
            <a:spLocks noGrp="1"/>
          </p:cNvSpPr>
          <p:nvPr/>
        </p:nvSpPr>
        <p:spPr>
          <a:xfrm>
            <a:off x="251999" y="792000"/>
            <a:ext cx="1655999" cy="756000"/>
          </a:xfrm>
          <a:prstGeom prst="roundRect">
            <a:avLst>
              <a:gd name="adj" fmla="val 30000"/>
            </a:avLst>
          </a:prstGeom>
          <a:solidFill>
            <a:srgbClr val="0D4F6E"/>
          </a:solidFill>
          <a:ln w="12700">
            <a:solidFill>
              <a:srgbClr val="00A3E0"/>
            </a:solidFill>
          </a:ln>
        </p:spPr>
        <p:txBody>
          <a:bodyPr/>
          <a:lstStyle/>
          <a:p/>
        </p:txBody>
      </p:sp>
      <p:sp>
        <p:nvSpPr>
          <p:cNvPr id="430" name="t430"/>
          <p:cNvSpPr txBox="1">
            <a:spLocks noGrp="1"/>
          </p:cNvSpPr>
          <p:nvPr/>
        </p:nvSpPr>
        <p:spPr>
          <a:xfrm>
            <a:off x="306000" y="828000"/>
            <a:ext cx="1548000" cy="198000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/>
            <a:r>
              <a:rPr lang="en-US" sz="1200" b="1" i="0" dirty="0">
                <a:solidFill>
                  <a:srgbClr val="FFFFFF"/>
                </a:solidFill>
              </a:rPr>
              <a:t>SAP S/4 HANA IS-OIL</a:t>
            </a:r>
          </a:p>
        </p:txBody>
      </p:sp>
      <p:sp>
        <p:nvSpPr>
          <p:cNvPr id="440" name="t440"/>
          <p:cNvSpPr txBox="1">
            <a:spLocks noGrp="1"/>
          </p:cNvSpPr>
          <p:nvPr/>
        </p:nvSpPr>
        <p:spPr>
          <a:xfrm>
            <a:off x="306000" y="1026000"/>
            <a:ext cx="1548000" cy="486000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/>
            <a:r>
              <a:rPr lang="en-US" sz="1000" b="0" i="0" dirty="0">
                <a:solidFill>
                  <a:srgbClr val="B0D4EC"/>
                </a:solidFill>
              </a:rPr>
              <a:t>TSW_MYNOMINATIONS_SRV_01
API_MATERIAL_STOCK_SRV
API_MATERIAL_DOCUMENT_SRV
MEASUREMENTDOCUMENT_0001</a:t>
            </a:r>
          </a:p>
        </p:txBody>
      </p:sp>
      <p:sp>
        <p:nvSpPr>
          <p:cNvPr id="321" name="b321"/>
          <p:cNvSpPr>
            <a:spLocks noGrp="1"/>
          </p:cNvSpPr>
          <p:nvPr/>
        </p:nvSpPr>
        <p:spPr>
          <a:xfrm>
            <a:off x="251999" y="1638000"/>
            <a:ext cx="1655999" cy="756000"/>
          </a:xfrm>
          <a:prstGeom prst="roundRect">
            <a:avLst>
              <a:gd name="adj" fmla="val 30000"/>
            </a:avLst>
          </a:prstGeom>
          <a:solidFill>
            <a:srgbClr val="0D4F3A"/>
          </a:solidFill>
          <a:ln w="12700">
            <a:solidFill>
              <a:srgbClr val="00A3E0"/>
            </a:solidFill>
          </a:ln>
        </p:spPr>
        <p:txBody>
          <a:bodyPr/>
          <a:lstStyle/>
          <a:p/>
        </p:txBody>
      </p:sp>
      <p:sp>
        <p:nvSpPr>
          <p:cNvPr id="431" name="t431"/>
          <p:cNvSpPr txBox="1">
            <a:spLocks noGrp="1"/>
          </p:cNvSpPr>
          <p:nvPr/>
        </p:nvSpPr>
        <p:spPr>
          <a:xfrm>
            <a:off x="306000" y="1674000"/>
            <a:ext cx="1548000" cy="198000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/>
            <a:r>
              <a:rPr lang="en-US" sz="1200" b="1" i="0" dirty="0">
                <a:solidFill>
                  <a:srgbClr val="FFFFFF"/>
                </a:solidFill>
              </a:rPr>
              <a:t>ATG System</a:t>
            </a:r>
          </a:p>
        </p:txBody>
      </p:sp>
      <p:sp>
        <p:nvSpPr>
          <p:cNvPr id="441" name="t441"/>
          <p:cNvSpPr txBox="1">
            <a:spLocks noGrp="1"/>
          </p:cNvSpPr>
          <p:nvPr/>
        </p:nvSpPr>
        <p:spPr>
          <a:xfrm>
            <a:off x="306000" y="1872000"/>
            <a:ext cx="1548000" cy="486000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/>
            <a:r>
              <a:rPr lang="en-US" sz="1000" b="0" i="0" dirty="0">
                <a:solidFill>
                  <a:srgbClr val="B0D4EC"/>
                </a:solidFill>
              </a:rPr>
              <a:t>Automatic Tank Gauging
Real-time level readings
Electronic gauge protocol</a:t>
            </a:r>
          </a:p>
        </p:txBody>
      </p:sp>
      <p:sp>
        <p:nvSpPr>
          <p:cNvPr id="322" name="b322"/>
          <p:cNvSpPr>
            <a:spLocks noGrp="1"/>
          </p:cNvSpPr>
          <p:nvPr/>
        </p:nvSpPr>
        <p:spPr>
          <a:xfrm>
            <a:off x="251999" y="2484000"/>
            <a:ext cx="1655999" cy="756000"/>
          </a:xfrm>
          <a:prstGeom prst="roundRect">
            <a:avLst>
              <a:gd name="adj" fmla="val 30000"/>
            </a:avLst>
          </a:prstGeom>
          <a:solidFill>
            <a:srgbClr val="4F3A0D"/>
          </a:solidFill>
          <a:ln w="12700">
            <a:solidFill>
              <a:srgbClr val="00A3E0"/>
            </a:solidFill>
          </a:ln>
        </p:spPr>
        <p:txBody>
          <a:bodyPr/>
          <a:lstStyle/>
          <a:p/>
        </p:txBody>
      </p:sp>
      <p:sp>
        <p:nvSpPr>
          <p:cNvPr id="432" name="t432"/>
          <p:cNvSpPr txBox="1">
            <a:spLocks noGrp="1"/>
          </p:cNvSpPr>
          <p:nvPr/>
        </p:nvSpPr>
        <p:spPr>
          <a:xfrm>
            <a:off x="306000" y="2520000"/>
            <a:ext cx="1548000" cy="198000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/>
            <a:r>
              <a:rPr lang="en-US" sz="1200" b="1" i="0" dirty="0">
                <a:solidFill>
                  <a:srgbClr val="FFFFFF"/>
                </a:solidFill>
              </a:rPr>
              <a:t>Fiori Mobile Capture</a:t>
            </a:r>
          </a:p>
        </p:txBody>
      </p:sp>
      <p:sp>
        <p:nvSpPr>
          <p:cNvPr id="442" name="t442"/>
          <p:cNvSpPr txBox="1">
            <a:spLocks noGrp="1"/>
          </p:cNvSpPr>
          <p:nvPr/>
        </p:nvSpPr>
        <p:spPr>
          <a:xfrm>
            <a:off x="306000" y="2718000"/>
            <a:ext cx="1548000" cy="486000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/>
            <a:r>
              <a:rPr lang="en-US" sz="1000" b="0" i="0" dirty="0">
                <a:solidFill>
                  <a:srgbClr val="B0D4EC"/>
                </a:solidFill>
              </a:rPr>
              <a:t>API_PHYSICAL_INVENTORY_DOC_SRV
Manual dip entries
Field operator submissions</a:t>
            </a:r>
          </a:p>
        </p:txBody>
      </p:sp>
      <p:sp>
        <p:nvSpPr>
          <p:cNvPr id="350" name="b350"/>
          <p:cNvSpPr>
            <a:spLocks noGrp="1"/>
          </p:cNvSpPr>
          <p:nvPr/>
        </p:nvSpPr>
        <p:spPr>
          <a:xfrm>
            <a:off x="4608000" y="792000"/>
            <a:ext cx="1620000" cy="756000"/>
          </a:xfrm>
          <a:prstGeom prst="roundRect">
            <a:avLst>
              <a:gd name="adj" fmla="val 30000"/>
            </a:avLst>
          </a:prstGeom>
          <a:solidFill>
            <a:srgbClr val="2E0D4F"/>
          </a:solidFill>
          <a:ln w="12700">
            <a:solidFill>
              <a:srgbClr val="00A3E0"/>
            </a:solidFill>
          </a:ln>
        </p:spPr>
        <p:txBody>
          <a:bodyPr/>
          <a:lstStyle/>
          <a:p/>
        </p:txBody>
      </p:sp>
      <p:sp>
        <p:nvSpPr>
          <p:cNvPr id="460" name="t460"/>
          <p:cNvSpPr txBox="1">
            <a:spLocks noGrp="1"/>
          </p:cNvSpPr>
          <p:nvPr/>
        </p:nvSpPr>
        <p:spPr>
          <a:xfrm>
            <a:off x="4662000" y="828000"/>
            <a:ext cx="1512000" cy="198000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/>
            <a:r>
              <a:rPr lang="en-US" sz="1200" b="1" i="0" dirty="0">
                <a:solidFill>
                  <a:srgbClr val="FFFFFF"/>
                </a:solidFill>
              </a:rPr>
              <a:t>AIS Vessel Tracking</a:t>
            </a:r>
          </a:p>
        </p:txBody>
      </p:sp>
      <p:sp>
        <p:nvSpPr>
          <p:cNvPr id="470" name="t470"/>
          <p:cNvSpPr txBox="1">
            <a:spLocks noGrp="1"/>
          </p:cNvSpPr>
          <p:nvPr/>
        </p:nvSpPr>
        <p:spPr>
          <a:xfrm>
            <a:off x="4662000" y="1026000"/>
            <a:ext cx="1512000" cy="486000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/>
            <a:r>
              <a:rPr lang="en-US" sz="1000" b="0" i="0" dirty="0">
                <a:solidFill>
                  <a:srgbClr val="B0D4EC"/>
                </a:solidFill>
              </a:rPr>
              <a:t>MyShipTracking API
Live vessel position &amp; ETA
IMO / MMSI lookup</a:t>
            </a:r>
          </a:p>
        </p:txBody>
      </p:sp>
      <p:sp>
        <p:nvSpPr>
          <p:cNvPr id="351" name="b351"/>
          <p:cNvSpPr>
            <a:spLocks noGrp="1"/>
          </p:cNvSpPr>
          <p:nvPr/>
        </p:nvSpPr>
        <p:spPr>
          <a:xfrm>
            <a:off x="4608000" y="1638000"/>
            <a:ext cx="1620000" cy="756000"/>
          </a:xfrm>
          <a:prstGeom prst="roundRect">
            <a:avLst>
              <a:gd name="adj" fmla="val 30000"/>
            </a:avLst>
          </a:prstGeom>
          <a:solidFill>
            <a:srgbClr val="4F2E0D"/>
          </a:solidFill>
          <a:ln w="12700">
            <a:solidFill>
              <a:srgbClr val="00A3E0"/>
            </a:solidFill>
          </a:ln>
        </p:spPr>
        <p:txBody>
          <a:bodyPr/>
          <a:lstStyle/>
          <a:p/>
        </p:txBody>
      </p:sp>
      <p:sp>
        <p:nvSpPr>
          <p:cNvPr id="461" name="t461"/>
          <p:cNvSpPr txBox="1">
            <a:spLocks noGrp="1"/>
          </p:cNvSpPr>
          <p:nvPr/>
        </p:nvSpPr>
        <p:spPr>
          <a:xfrm>
            <a:off x="4662000" y="1674000"/>
            <a:ext cx="1512000" cy="198000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/>
            <a:r>
              <a:rPr lang="en-US" sz="1200" b="1" i="0" dirty="0">
                <a:solidFill>
                  <a:srgbClr val="FFFFFF"/>
                </a:solidFill>
              </a:rPr>
              <a:t>GDELT Geopolitical</a:t>
            </a:r>
          </a:p>
        </p:txBody>
      </p:sp>
      <p:sp>
        <p:nvSpPr>
          <p:cNvPr id="471" name="t471"/>
          <p:cNvSpPr txBox="1">
            <a:spLocks noGrp="1"/>
          </p:cNvSpPr>
          <p:nvPr/>
        </p:nvSpPr>
        <p:spPr>
          <a:xfrm>
            <a:off x="4662000" y="1872000"/>
            <a:ext cx="1512000" cy="486000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/>
            <a:r>
              <a:rPr lang="en-US" sz="1000" b="0" i="0" dirty="0">
                <a:solidFill>
                  <a:srgbClr val="B0D4EC"/>
                </a:solidFill>
              </a:rPr>
              <a:t>Global news event scan
Strike / hurricane / sanction
Route risk assessment</a:t>
            </a:r>
          </a:p>
        </p:txBody>
      </p:sp>
      <p:sp>
        <p:nvSpPr>
          <p:cNvPr id="352" name="b352"/>
          <p:cNvSpPr>
            <a:spLocks noGrp="1"/>
          </p:cNvSpPr>
          <p:nvPr/>
        </p:nvSpPr>
        <p:spPr>
          <a:xfrm>
            <a:off x="4608000" y="2484000"/>
            <a:ext cx="1620000" cy="756000"/>
          </a:xfrm>
          <a:prstGeom prst="roundRect">
            <a:avLst>
              <a:gd name="adj" fmla="val 30000"/>
            </a:avLst>
          </a:prstGeom>
          <a:solidFill>
            <a:srgbClr val="0D4F4F"/>
          </a:solidFill>
          <a:ln w="12700">
            <a:solidFill>
              <a:srgbClr val="00A3E0"/>
            </a:solidFill>
          </a:ln>
        </p:spPr>
        <p:txBody>
          <a:bodyPr/>
          <a:lstStyle/>
          <a:p/>
        </p:txBody>
      </p:sp>
      <p:sp>
        <p:nvSpPr>
          <p:cNvPr id="462" name="t462"/>
          <p:cNvSpPr txBox="1">
            <a:spLocks noGrp="1"/>
          </p:cNvSpPr>
          <p:nvPr/>
        </p:nvSpPr>
        <p:spPr>
          <a:xfrm>
            <a:off x="4662000" y="2520000"/>
            <a:ext cx="1512000" cy="198000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/>
            <a:r>
              <a:rPr lang="en-US" sz="1200" b="1" i="0" dirty="0">
                <a:solidFill>
                  <a:srgbClr val="FFFFFF"/>
                </a:solidFill>
              </a:rPr>
              <a:t>SAP BTP Services</a:t>
            </a:r>
          </a:p>
        </p:txBody>
      </p:sp>
      <p:sp>
        <p:nvSpPr>
          <p:cNvPr id="472" name="t472"/>
          <p:cNvSpPr txBox="1">
            <a:spLocks noGrp="1"/>
          </p:cNvSpPr>
          <p:nvPr/>
        </p:nvSpPr>
        <p:spPr>
          <a:xfrm>
            <a:off x="4662000" y="2718000"/>
            <a:ext cx="1512000" cy="486000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l"/>
            <a:r>
              <a:rPr lang="en-US" sz="1000" b="0" i="0" dirty="0">
                <a:solidFill>
                  <a:srgbClr val="B0D4EC"/>
                </a:solidFill>
              </a:rPr>
              <a:t>Alert Notification Service
MS Teams Webhook
Email Distribution</a:t>
            </a:r>
          </a:p>
        </p:txBody>
      </p:sp>
      <p:sp>
        <p:nvSpPr>
          <p:cNvPr id="390" name="b390"/>
          <p:cNvSpPr>
            <a:spLocks noGrp="1"/>
          </p:cNvSpPr>
          <p:nvPr/>
        </p:nvSpPr>
        <p:spPr>
          <a:xfrm>
            <a:off x="251999" y="3348000"/>
            <a:ext cx="5976000" cy="198000"/>
          </a:xfrm>
          <a:prstGeom prst="rect">
            <a:avLst/>
          </a:prstGeom>
          <a:solidFill>
            <a:srgbClr val="0A1E30"/>
          </a:solidFill>
          <a:ln w="12700">
            <a:solidFill>
              <a:srgbClr val="00A3E0"/>
            </a:solidFill>
          </a:ln>
        </p:spPr>
        <p:txBody>
          <a:bodyPr/>
          <a:lstStyle/>
          <a:p/>
        </p:txBody>
      </p:sp>
      <p:sp>
        <p:nvSpPr>
          <p:cNvPr id="490" name="t490"/>
          <p:cNvSpPr txBox="1">
            <a:spLocks noGrp="1"/>
          </p:cNvSpPr>
          <p:nvPr/>
        </p:nvSpPr>
        <p:spPr>
          <a:xfrm>
            <a:off x="251999" y="3348000"/>
            <a:ext cx="5976000" cy="198000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pPr algn="ctr"/>
            <a:r>
              <a:rPr lang="en-US" sz="1200" b="0" i="0" dirty="0">
                <a:solidFill>
                  <a:srgbClr val="00A3E0"/>
                </a:solidFill>
              </a:rPr>
              <a:t>Connection Layer:  OData v2 / v4  ·  REST / JSON  ·  SAP Cloud Connector  ·  Destination Service  ·  mTLS</a:t>
            </a:r>
          </a:p>
        </p:txBody>
      </p:sp>
    </p:spTree>
  </p:cSld>
  <p:clrMapOvr>
    <a:masterClrMapping/>
  </p:clrMapOvr>
</p:sld>
</file>

<file path=docProps/core.xml><?xml version="1.0" encoding="utf-8"?>
<cp:coreProperties xmlns:cp="http://schemas.openxmlformats.org/package/2006/metadata/core-properties" xmlns:dc="http://purl.org/dc/elements/1.1/">
  <dc:title>TSW ETA Agent — Architecture &amp; Workflow</dc:title>
  <dc:creator>TSW Terminal Operations</dc:creator>
</cp:coreProperties>
</file>