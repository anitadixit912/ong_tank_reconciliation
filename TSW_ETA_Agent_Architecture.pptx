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4000" y="198000"/>
            <a:ext cx="1152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TSW ETA Intelligence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4000" y="737999"/>
            <a:ext cx="11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B0D4EC"/>
                </a:solidFill>
              </a:rPr>
              <a:t>What it does  ·  Why it exists  ·  How it 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4000" y="1062000"/>
            <a:ext cx="11520000" cy="3240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24000" y="1152000"/>
            <a:ext cx="11520000" cy="1007999"/>
          </a:xfrm>
          <a:prstGeom prst="ellipse">
            <a:avLst/>
          </a:prstGeom>
          <a:solidFill>
            <a:srgbClr val="0A1E30"/>
          </a:solidFill>
          <a:ln w="9525"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6000" y="1206000"/>
            <a:ext cx="11376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A3E0"/>
                </a:solidFill>
              </a:rP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6000" y="1458000"/>
            <a:ext cx="11376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D4EC"/>
                </a:solidFill>
              </a:rPr>
              <a:t>Nomination planners estimate vessel ETAs manually — no live vessel tracking, no geopolitical awareness, no carrier performance history.  A wrong ETA causes missed loadings, demurrage charges and custody transfer disputes costing thousands of dollars per incident.</a:t>
            </a:r>
          </a:p>
        </p:txBody>
      </p:sp>
      <p:sp>
        <p:nvSpPr>
          <p:cNvPr id="9" name="Oval 8"/>
          <p:cNvSpPr/>
          <p:nvPr/>
        </p:nvSpPr>
        <p:spPr>
          <a:xfrm>
            <a:off x="324000" y="2268000"/>
            <a:ext cx="2772000" cy="1584000"/>
          </a:xfrm>
          <a:prstGeom prst="ellipse">
            <a:avLst/>
          </a:prstGeom>
          <a:solidFill>
            <a:srgbClr val="00A3E0"/>
          </a:solidFill>
          <a:ln w="9525"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6000" y="2322000"/>
            <a:ext cx="2628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A3E0"/>
                </a:solidFill>
              </a:rPr>
              <a:t>Live AIS Tracking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6000" y="2592000"/>
            <a:ext cx="2628000" cy="2520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6000" y="2646000"/>
            <a:ext cx="2628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D4EC"/>
                </a:solidFill>
              </a:rPr>
              <a:t>Queries MyShipTracking API</a:t>
            </a:r>
          </a:p>
          <a:p>
            <a:pPr algn="l"/>
            <a:r>
              <a:rPr sz="1100" b="0" i="0">
                <a:solidFill>
                  <a:srgbClr val="B0D4EC"/>
                </a:solidFill>
              </a:rPr>
              <a:t>by IMO / vessel name</a:t>
            </a:r>
          </a:p>
          <a:p>
            <a:pPr algn="l"/>
            <a:r>
              <a:rPr sz="1100" b="0" i="0">
                <a:solidFill>
                  <a:srgbClr val="B0D4EC"/>
                </a:solidFill>
              </a:rPr>
              <a:t>Returns live position + ETA UTC</a:t>
            </a:r>
          </a:p>
        </p:txBody>
      </p:sp>
      <p:sp>
        <p:nvSpPr>
          <p:cNvPr id="13" name="Oval 12"/>
          <p:cNvSpPr/>
          <p:nvPr/>
        </p:nvSpPr>
        <p:spPr>
          <a:xfrm>
            <a:off x="3240000" y="2268000"/>
            <a:ext cx="2772000" cy="1584000"/>
          </a:xfrm>
          <a:prstGeom prst="ellipse">
            <a:avLst/>
          </a:prstGeom>
          <a:solidFill>
            <a:srgbClr val="0E3D5C"/>
          </a:solidFill>
          <a:ln w="9525"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11999" y="2322000"/>
            <a:ext cx="2628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A3E0"/>
                </a:solidFill>
              </a:rPr>
              <a:t>Geopolitical Risk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11999" y="2592000"/>
            <a:ext cx="2628000" cy="2520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11999" y="2646000"/>
            <a:ext cx="2628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D4EC"/>
                </a:solidFill>
              </a:rPr>
              <a:t>GDELT global news scan</a:t>
            </a:r>
          </a:p>
          <a:p>
            <a:pPr algn="l"/>
            <a:r>
              <a:rPr sz="1100" b="0" i="0">
                <a:solidFill>
                  <a:srgbClr val="B0D4EC"/>
                </a:solidFill>
              </a:rPr>
              <a:t>Detects strikes, hurricanes,</a:t>
            </a:r>
          </a:p>
          <a:p>
            <a:pPr algn="l"/>
            <a:r>
              <a:rPr sz="1100" b="0" i="0">
                <a:solidFill>
                  <a:srgbClr val="B0D4EC"/>
                </a:solidFill>
              </a:rPr>
              <a:t>sanctions near the route</a:t>
            </a:r>
          </a:p>
        </p:txBody>
      </p:sp>
      <p:sp>
        <p:nvSpPr>
          <p:cNvPr id="17" name="Oval 16"/>
          <p:cNvSpPr/>
          <p:nvPr/>
        </p:nvSpPr>
        <p:spPr>
          <a:xfrm>
            <a:off x="6155999" y="2268000"/>
            <a:ext cx="2772000" cy="1584000"/>
          </a:xfrm>
          <a:prstGeom prst="ellipse">
            <a:avLst/>
          </a:prstGeom>
          <a:solidFill>
            <a:srgbClr val="1A3A55"/>
          </a:solidFill>
          <a:ln w="9525"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27999" y="2322000"/>
            <a:ext cx="2628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A3E0"/>
                </a:solidFill>
              </a:rPr>
              <a:t>Carrier Performance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27999" y="2592000"/>
            <a:ext cx="2628000" cy="2520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27999" y="2646000"/>
            <a:ext cx="2628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D4EC"/>
                </a:solidFill>
              </a:rPr>
              <a:t>Historical on-time % and</a:t>
            </a:r>
          </a:p>
          <a:p>
            <a:pPr algn="l"/>
            <a:r>
              <a:rPr sz="1100" b="0" i="0">
                <a:solidFill>
                  <a:srgbClr val="B0D4EC"/>
                </a:solidFill>
              </a:rPr>
              <a:t>avg delay days per carrier</a:t>
            </a:r>
          </a:p>
          <a:p>
            <a:pPr algn="l"/>
            <a:r>
              <a:rPr sz="1100" b="0" i="0">
                <a:solidFill>
                  <a:srgbClr val="B0D4EC"/>
                </a:solidFill>
              </a:rPr>
              <a:t>from completed nominations</a:t>
            </a:r>
          </a:p>
        </p:txBody>
      </p:sp>
      <p:sp>
        <p:nvSpPr>
          <p:cNvPr id="21" name="Oval 20"/>
          <p:cNvSpPr/>
          <p:nvPr/>
        </p:nvSpPr>
        <p:spPr>
          <a:xfrm>
            <a:off x="9071999" y="2268000"/>
            <a:ext cx="2772000" cy="1584000"/>
          </a:xfrm>
          <a:prstGeom prst="ellipse">
            <a:avLst/>
          </a:prstGeom>
          <a:solidFill>
            <a:srgbClr val="27AE60"/>
          </a:solidFill>
          <a:ln w="9525"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3999" y="2322000"/>
            <a:ext cx="2628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A3E0"/>
                </a:solidFill>
              </a:rPr>
              <a:t>Historical Patterns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3999" y="2592000"/>
            <a:ext cx="2628000" cy="2520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3999" y="2646000"/>
            <a:ext cx="2628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D4EC"/>
                </a:solidFill>
              </a:rPr>
              <a:t>Avg lead-time by material</a:t>
            </a:r>
          </a:p>
          <a:p>
            <a:pPr algn="l"/>
            <a:r>
              <a:rPr sz="1100" b="0" i="0">
                <a:solidFill>
                  <a:srgbClr val="B0D4EC"/>
                </a:solidFill>
              </a:rPr>
              <a:t>× location × transport system</a:t>
            </a:r>
          </a:p>
          <a:p>
            <a:pPr algn="l"/>
            <a:r>
              <a:rPr sz="1100" b="0" i="0">
                <a:solidFill>
                  <a:srgbClr val="B0D4EC"/>
                </a:solidFill>
              </a:rPr>
              <a:t>from SAP TSW history</a:t>
            </a:r>
          </a:p>
        </p:txBody>
      </p:sp>
      <p:sp>
        <p:nvSpPr>
          <p:cNvPr id="25" name="Oval 24"/>
          <p:cNvSpPr/>
          <p:nvPr/>
        </p:nvSpPr>
        <p:spPr>
          <a:xfrm>
            <a:off x="324000" y="3996000"/>
            <a:ext cx="11520000" cy="720000"/>
          </a:xfrm>
          <a:prstGeom prst="ellipse">
            <a:avLst/>
          </a:prstGeom>
          <a:solidFill>
            <a:srgbClr val="0A2030"/>
          </a:solidFill>
          <a:ln w="9525"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6000" y="4050000"/>
            <a:ext cx="28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A3E0"/>
                </a:solidFill>
              </a:rPr>
              <a:t>OUTPUT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6000" y="4302000"/>
            <a:ext cx="11376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D4EC"/>
                </a:solidFill>
              </a:rPr>
              <a:t>Risk-adjusted ETA  ·  Confidence level (High / Medium / Low)  ·  Full adjustment table  ·  Supervisor approval prompt  ·  On approval: ETA + events written directly to SAP TSW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00000" y="6623999"/>
            <a:ext cx="12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A3A55"/>
                </a:solidFill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4000" y="162000"/>
            <a:ext cx="115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TSW ETA Agent — 9-Step Intelligence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4000" y="630000"/>
            <a:ext cx="1152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D4EC"/>
                </a:solidFill>
              </a:rPr>
              <a:t>Steps 1–6 run fully automatically without stopping  ·  Step 7 presents the report  ·  Supervisor approves or rejects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4000" y="917999"/>
            <a:ext cx="11520000" cy="3240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24000" y="1007999"/>
            <a:ext cx="3671999" cy="1835999"/>
          </a:xfrm>
          <a:prstGeom prst="ellipse">
            <a:avLst/>
          </a:prstGeom>
          <a:solidFill>
            <a:srgbClr val="00A3E0"/>
          </a:solidFill>
          <a:ln w="9525"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6000" y="1062000"/>
            <a:ext cx="3527999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A3E0"/>
                </a:solidFill>
              </a:rPr>
              <a:t>STEP 1  ·  Fetch Nomination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96000" y="1332000"/>
            <a:ext cx="3527999" cy="2520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6000" y="1385999"/>
            <a:ext cx="3527999" cy="14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D4EC"/>
                </a:solidFill>
              </a:rPr>
              <a:t>Tool: get_nomination</a:t>
            </a:r>
          </a:p>
          <a:p>
            <a:pPr algn="l"/>
            <a:r>
              <a:rPr sz="1100" b="0" i="0">
                <a:solidFill>
                  <a:srgbClr val="B0D4EC"/>
                </a:solidFill>
              </a:rPr>
              <a:t>Reads live data from SAP S/4 HANA TSW</a:t>
            </a:r>
          </a:p>
          <a:p>
            <a:pPr algn="l"/>
            <a:r>
              <a:rPr sz="1100" b="0" i="0">
                <a:solidFill>
                  <a:srgbClr val="B0D4EC"/>
                </a:solidFill>
              </a:rPr>
              <a:t>Extracts: Location, Material, Transport</a:t>
            </a:r>
          </a:p>
          <a:p>
            <a:pPr algn="l"/>
            <a:r>
              <a:rPr sz="1100" b="0" i="0">
                <a:solidFill>
                  <a:srgbClr val="B0D4EC"/>
                </a:solidFill>
              </a:rPr>
              <a:t>System, Scheduled Date, Carrier</a:t>
            </a:r>
          </a:p>
        </p:txBody>
      </p:sp>
      <p:sp>
        <p:nvSpPr>
          <p:cNvPr id="10" name="Oval 9"/>
          <p:cNvSpPr/>
          <p:nvPr/>
        </p:nvSpPr>
        <p:spPr>
          <a:xfrm>
            <a:off x="4248000" y="1007999"/>
            <a:ext cx="3671999" cy="1835999"/>
          </a:xfrm>
          <a:prstGeom prst="ellipse">
            <a:avLst/>
          </a:prstGeom>
          <a:solidFill>
            <a:srgbClr val="1A3A55"/>
          </a:solidFill>
          <a:ln w="9525"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19999" y="1062000"/>
            <a:ext cx="3527999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A3E0"/>
                </a:solidFill>
              </a:rPr>
              <a:t>STEP 2  ·  Live Vessel Tracking (AIS)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19999" y="1332000"/>
            <a:ext cx="3527999" cy="2520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19999" y="1385999"/>
            <a:ext cx="3527999" cy="14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D4EC"/>
                </a:solidFill>
              </a:rPr>
              <a:t>Tools: get_port_vessel_etas</a:t>
            </a:r>
          </a:p>
          <a:p>
            <a:pPr algn="l"/>
            <a:r>
              <a:rPr sz="1100" b="0" i="0">
                <a:solidFill>
                  <a:srgbClr val="B0D4EC"/>
                </a:solidFill>
              </a:rPr>
              <a:t>         myshiptracking_lookup</a:t>
            </a:r>
          </a:p>
          <a:p>
            <a:pPr algn="l"/>
            <a:r>
              <a:rPr sz="1100" b="0" i="0">
                <a:solidFill>
                  <a:srgbClr val="B0D4EC"/>
                </a:solidFill>
              </a:rPr>
              <a:t>Queries MyShipTracking by vessel name / IMO</a:t>
            </a:r>
          </a:p>
          <a:p>
            <a:pPr algn="l"/>
            <a:r>
              <a:rPr sz="1100" b="0" i="0">
                <a:solidFill>
                  <a:srgbClr val="B0D4EC"/>
                </a:solidFill>
              </a:rPr>
              <a:t>Returns live vessel position + ETA UTC</a:t>
            </a:r>
          </a:p>
        </p:txBody>
      </p:sp>
      <p:sp>
        <p:nvSpPr>
          <p:cNvPr id="14" name="Oval 13"/>
          <p:cNvSpPr/>
          <p:nvPr/>
        </p:nvSpPr>
        <p:spPr>
          <a:xfrm>
            <a:off x="8171999" y="1007999"/>
            <a:ext cx="3671999" cy="1835999"/>
          </a:xfrm>
          <a:prstGeom prst="ellipse">
            <a:avLst/>
          </a:prstGeom>
          <a:solidFill>
            <a:srgbClr val="1A3A55"/>
          </a:solidFill>
          <a:ln w="9525"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3999" y="1062000"/>
            <a:ext cx="3527999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A3E0"/>
                </a:solidFill>
              </a:rPr>
              <a:t>STEP 3  ·  Historical Voyage Patterns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43999" y="1332000"/>
            <a:ext cx="3527999" cy="2520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3999" y="1385999"/>
            <a:ext cx="3527999" cy="14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D4EC"/>
                </a:solidFill>
              </a:rPr>
              <a:t>Tool: get_nomination_history</a:t>
            </a:r>
          </a:p>
          <a:p>
            <a:pPr algn="l"/>
            <a:r>
              <a:rPr sz="1100" b="0" i="0">
                <a:solidFill>
                  <a:srgbClr val="B0D4EC"/>
                </a:solidFill>
              </a:rPr>
              <a:t>Analyses completed nominations in SAP TSW</a:t>
            </a:r>
          </a:p>
          <a:p>
            <a:pPr algn="l"/>
            <a:r>
              <a:rPr sz="1100" b="0" i="0">
                <a:solidFill>
                  <a:srgbClr val="B0D4EC"/>
                </a:solidFill>
              </a:rPr>
              <a:t>Computes avg lead-time days by</a:t>
            </a:r>
          </a:p>
          <a:p>
            <a:pPr algn="l"/>
            <a:r>
              <a:rPr sz="1100" b="0" i="0">
                <a:solidFill>
                  <a:srgbClr val="B0D4EC"/>
                </a:solidFill>
              </a:rPr>
              <a:t>material × location × transport system</a:t>
            </a:r>
          </a:p>
        </p:txBody>
      </p:sp>
      <p:sp>
        <p:nvSpPr>
          <p:cNvPr id="18" name="Oval 17"/>
          <p:cNvSpPr/>
          <p:nvPr/>
        </p:nvSpPr>
        <p:spPr>
          <a:xfrm>
            <a:off x="324000" y="2970000"/>
            <a:ext cx="3671999" cy="1835999"/>
          </a:xfrm>
          <a:prstGeom prst="ellipse">
            <a:avLst/>
          </a:prstGeom>
          <a:solidFill>
            <a:srgbClr val="1A3A55"/>
          </a:solidFill>
          <a:ln w="9525"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6000" y="3024000"/>
            <a:ext cx="3527999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A3E0"/>
                </a:solidFill>
              </a:rPr>
              <a:t>STEP 4  ·  Carrier Performance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6000" y="3294000"/>
            <a:ext cx="3527999" cy="2520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6000" y="3348000"/>
            <a:ext cx="3527999" cy="14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D4EC"/>
                </a:solidFill>
              </a:rPr>
              <a:t>Tool: analyze_carrier_performance</a:t>
            </a:r>
          </a:p>
          <a:p>
            <a:pPr algn="l"/>
            <a:r>
              <a:rPr sz="1100" b="0" i="0">
                <a:solidFill>
                  <a:srgbClr val="B0D4EC"/>
                </a:solidFill>
              </a:rPr>
              <a:t>Calculates per-carrier:</a:t>
            </a:r>
          </a:p>
          <a:p>
            <a:pPr algn="l"/>
            <a:r>
              <a:rPr sz="1100" b="0" i="0">
                <a:solidFill>
                  <a:srgbClr val="B0D4EC"/>
                </a:solidFill>
              </a:rPr>
              <a:t>· Average delay days</a:t>
            </a:r>
          </a:p>
          <a:p>
            <a:pPr algn="l"/>
            <a:r>
              <a:rPr sz="1100" b="0" i="0">
                <a:solidFill>
                  <a:srgbClr val="B0D4EC"/>
                </a:solidFill>
              </a:rPr>
              <a:t>· On-time delivery %</a:t>
            </a:r>
          </a:p>
        </p:txBody>
      </p:sp>
      <p:sp>
        <p:nvSpPr>
          <p:cNvPr id="22" name="Oval 21"/>
          <p:cNvSpPr/>
          <p:nvPr/>
        </p:nvSpPr>
        <p:spPr>
          <a:xfrm>
            <a:off x="4248000" y="2970000"/>
            <a:ext cx="3671999" cy="1835999"/>
          </a:xfrm>
          <a:prstGeom prst="ellipse">
            <a:avLst/>
          </a:prstGeom>
          <a:solidFill>
            <a:srgbClr val="1A3A55"/>
          </a:solidFill>
          <a:ln w="9525"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19999" y="3024000"/>
            <a:ext cx="3527999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A3E0"/>
                </a:solidFill>
              </a:rPr>
              <a:t>STEP 5  ·  Geopolitical Risk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19999" y="3294000"/>
            <a:ext cx="3527999" cy="2520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19999" y="3348000"/>
            <a:ext cx="3527999" cy="14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D4EC"/>
                </a:solidFill>
              </a:rPr>
              <a:t>Tool: get_geopolitical_risk (GDELT)</a:t>
            </a:r>
          </a:p>
          <a:p>
            <a:pPr algn="l"/>
            <a:r>
              <a:rPr sz="1100" b="0" i="0">
                <a:solidFill>
                  <a:srgbClr val="B0D4EC"/>
                </a:solidFill>
              </a:rPr>
              <a:t>Scans global news near destination</a:t>
            </a:r>
          </a:p>
          <a:p>
            <a:pPr algn="l"/>
            <a:r>
              <a:rPr sz="1100" b="0" i="0">
                <a:solidFill>
                  <a:srgbClr val="B0D4EC"/>
                </a:solidFill>
              </a:rPr>
              <a:t>Detects: strikes, hurricanes, sanctions</a:t>
            </a:r>
          </a:p>
          <a:p>
            <a:pPr algn="l"/>
            <a:r>
              <a:rPr sz="1100" b="0" i="0">
                <a:solidFill>
                  <a:srgbClr val="B0D4EC"/>
                </a:solidFill>
              </a:rPr>
              <a:t>Returns risk level + delay buffer days</a:t>
            </a:r>
          </a:p>
        </p:txBody>
      </p:sp>
      <p:sp>
        <p:nvSpPr>
          <p:cNvPr id="26" name="Oval 25"/>
          <p:cNvSpPr/>
          <p:nvPr/>
        </p:nvSpPr>
        <p:spPr>
          <a:xfrm>
            <a:off x="8171999" y="2970000"/>
            <a:ext cx="3671999" cy="1835999"/>
          </a:xfrm>
          <a:prstGeom prst="ellipse">
            <a:avLst/>
          </a:prstGeom>
          <a:solidFill>
            <a:srgbClr val="0E3D5C"/>
          </a:solidFill>
          <a:ln w="9525"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43999" y="3024000"/>
            <a:ext cx="3527999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A3E0"/>
                </a:solidFill>
              </a:rPr>
              <a:t>STEP 6  ·  Calculate ETA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43999" y="3294000"/>
            <a:ext cx="3527999" cy="2520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43999" y="3348000"/>
            <a:ext cx="3527999" cy="14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D4EC"/>
                </a:solidFill>
              </a:rPr>
              <a:t>Tool: calculate_eta_intelligence</a:t>
            </a:r>
          </a:p>
          <a:p>
            <a:pPr algn="l"/>
            <a:r>
              <a:rPr sz="1100" b="0" i="0">
                <a:solidFill>
                  <a:srgbClr val="B0D4EC"/>
                </a:solidFill>
              </a:rPr>
              <a:t>Base ETA (AIS or scheduled date)</a:t>
            </a:r>
          </a:p>
          <a:p>
            <a:pPr algn="l"/>
            <a:r>
              <a:rPr sz="1100" b="0" i="0">
                <a:solidFill>
                  <a:srgbClr val="B0D4EC"/>
                </a:solidFill>
              </a:rPr>
              <a:t>+ carrier adj + seasonal + geo buffer</a:t>
            </a:r>
          </a:p>
          <a:p>
            <a:pPr algn="l"/>
            <a:r>
              <a:rPr sz="1100" b="0" i="0">
                <a:solidFill>
                  <a:srgbClr val="B0D4EC"/>
                </a:solidFill>
              </a:rPr>
              <a:t>= Recommended ETA + Confidence</a:t>
            </a:r>
          </a:p>
        </p:txBody>
      </p:sp>
      <p:sp>
        <p:nvSpPr>
          <p:cNvPr id="30" name="Oval 29"/>
          <p:cNvSpPr/>
          <p:nvPr/>
        </p:nvSpPr>
        <p:spPr>
          <a:xfrm>
            <a:off x="324000" y="4932000"/>
            <a:ext cx="3671999" cy="1835999"/>
          </a:xfrm>
          <a:prstGeom prst="ellipse">
            <a:avLst/>
          </a:prstGeom>
          <a:solidFill>
            <a:srgbClr val="27AE60"/>
          </a:solidFill>
          <a:ln w="9525"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6000" y="4986000"/>
            <a:ext cx="3527999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A3E0"/>
                </a:solidFill>
              </a:rPr>
              <a:t>STEP 7  ·  Present ETA Report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96000" y="5256000"/>
            <a:ext cx="3527999" cy="2520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6000" y="5310000"/>
            <a:ext cx="3527999" cy="14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D4EC"/>
                </a:solidFill>
              </a:rPr>
              <a:t>Markdown ETA Intelligence Report:</a:t>
            </a:r>
          </a:p>
          <a:p>
            <a:pPr algn="l"/>
            <a:r>
              <a:rPr sz="1100" b="0" i="0">
                <a:solidFill>
                  <a:srgbClr val="B0D4EC"/>
                </a:solidFill>
              </a:rPr>
              <a:t>· Adjustment table (carrier/seasonal/geo)</a:t>
            </a:r>
          </a:p>
          <a:p>
            <a:pPr algn="l"/>
            <a:r>
              <a:rPr sz="1100" b="0" i="0">
                <a:solidFill>
                  <a:srgbClr val="B0D4EC"/>
                </a:solidFill>
              </a:rPr>
              <a:t>· Data sources used</a:t>
            </a:r>
          </a:p>
          <a:p>
            <a:pPr algn="l"/>
            <a:r>
              <a:rPr sz="1100" b="0" i="0">
                <a:solidFill>
                  <a:srgbClr val="B0D4EC"/>
                </a:solidFill>
              </a:rPr>
              <a:t>· Confidence level · Approval prompt</a:t>
            </a:r>
          </a:p>
        </p:txBody>
      </p:sp>
      <p:sp>
        <p:nvSpPr>
          <p:cNvPr id="34" name="Oval 33"/>
          <p:cNvSpPr/>
          <p:nvPr/>
        </p:nvSpPr>
        <p:spPr>
          <a:xfrm>
            <a:off x="4248000" y="4932000"/>
            <a:ext cx="3671999" cy="1835999"/>
          </a:xfrm>
          <a:prstGeom prst="ellipse">
            <a:avLst/>
          </a:prstGeom>
          <a:solidFill>
            <a:srgbClr val="0A1E30"/>
          </a:solidFill>
          <a:ln w="9525"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19999" y="4986000"/>
            <a:ext cx="3527999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A3E0"/>
                </a:solidFill>
              </a:rPr>
              <a:t>STEP 8  ·  Reject / Alternatives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19999" y="5256000"/>
            <a:ext cx="3527999" cy="2520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19999" y="5310000"/>
            <a:ext cx="3527999" cy="14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D4EC"/>
                </a:solidFill>
              </a:rPr>
              <a:t>Tools: record_rejection_reason</a:t>
            </a:r>
          </a:p>
          <a:p>
            <a:pPr algn="l"/>
            <a:r>
              <a:rPr sz="1100" b="0" i="0">
                <a:solidFill>
                  <a:srgbClr val="B0D4EC"/>
                </a:solidFill>
              </a:rPr>
              <a:t>         get_nomination_history_deep</a:t>
            </a:r>
          </a:p>
          <a:p>
            <a:pPr algn="l"/>
            <a:r>
              <a:rPr sz="1100" b="0" i="0">
                <a:solidFill>
                  <a:srgbClr val="B0D4EC"/>
                </a:solidFill>
              </a:rPr>
              <a:t>Proposes 3 data-driven options:</a:t>
            </a:r>
          </a:p>
          <a:p>
            <a:pPr algn="l"/>
            <a:r>
              <a:rPr sz="1100" b="0" i="0">
                <a:solidFill>
                  <a:srgbClr val="B0D4EC"/>
                </a:solidFill>
              </a:rPr>
              <a:t>Conservative / Moderate / Optimistic</a:t>
            </a:r>
          </a:p>
        </p:txBody>
      </p:sp>
      <p:sp>
        <p:nvSpPr>
          <p:cNvPr id="38" name="Oval 37"/>
          <p:cNvSpPr/>
          <p:nvPr/>
        </p:nvSpPr>
        <p:spPr>
          <a:xfrm>
            <a:off x="8171999" y="4932000"/>
            <a:ext cx="3671999" cy="1835999"/>
          </a:xfrm>
          <a:prstGeom prst="ellipse">
            <a:avLst/>
          </a:prstGeom>
          <a:solidFill>
            <a:srgbClr val="F0A500"/>
          </a:solidFill>
          <a:ln w="9525"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43999" y="4986000"/>
            <a:ext cx="3527999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A3E0"/>
                </a:solidFill>
              </a:rPr>
              <a:t>STEP 9  ·  Approve &amp; Write to SAP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243999" y="5256000"/>
            <a:ext cx="3527999" cy="2520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43999" y="5310000"/>
            <a:ext cx="3527999" cy="14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D4EC"/>
                </a:solidFill>
              </a:rPr>
              <a:t>Tools: update_nomination_eta</a:t>
            </a:r>
          </a:p>
          <a:p>
            <a:pPr algn="l"/>
            <a:r>
              <a:rPr sz="1100" b="0" i="0">
                <a:solidFill>
                  <a:srgbClr val="B0D4EC"/>
                </a:solidFill>
              </a:rPr>
              <a:t>         update_nomination_events</a:t>
            </a:r>
          </a:p>
          <a:p>
            <a:pPr algn="l"/>
            <a:r>
              <a:rPr sz="1100" b="0" i="0">
                <a:solidFill>
                  <a:srgbClr val="B0D4EC"/>
                </a:solidFill>
              </a:rPr>
              <a:t>Writes to SAP TSW:</a:t>
            </a:r>
          </a:p>
          <a:p>
            <a:pPr algn="l"/>
            <a:r>
              <a:rPr sz="1100" b="0" i="0">
                <a:solidFill>
                  <a:srgbClr val="B0D4EC"/>
                </a:solidFill>
              </a:rPr>
              <a:t>Loading · Berthing · Discharge · Departure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800000" y="6623999"/>
            <a:ext cx="12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A3A55"/>
                </a:solidFill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4000" y="162000"/>
            <a:ext cx="115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TSW ETA Agent —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4000" y="630000"/>
            <a:ext cx="1152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D4EC"/>
                </a:solidFill>
              </a:rPr>
              <a:t>All data fetched live  ·  No hardcoded values  ·  OData v2/v4  ·  REST/JSON  ·  SAP AI Core  ·  mTLS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4000" y="917999"/>
            <a:ext cx="11520000" cy="324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960000" y="1007999"/>
            <a:ext cx="4320000" cy="3780000"/>
          </a:xfrm>
          <a:prstGeom prst="ellipse">
            <a:avLst/>
          </a:prstGeom>
          <a:solidFill>
            <a:srgbClr val="0A1E30"/>
          </a:solidFill>
          <a:ln w="9525"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60000" y="1080000"/>
            <a:ext cx="432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A3E0"/>
                </a:solidFill>
              </a:rPr>
              <a:t>TSW ETA Intelligence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60000" y="1368000"/>
            <a:ext cx="432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D4EC"/>
                </a:solidFill>
              </a:rPr>
              <a:t>Python  ·  LangGraph  ·  LangChain  ·  SAP BTP CF</a:t>
            </a:r>
          </a:p>
        </p:txBody>
      </p:sp>
      <p:sp>
        <p:nvSpPr>
          <p:cNvPr id="9" name="Rectangle 8"/>
          <p:cNvSpPr/>
          <p:nvPr/>
        </p:nvSpPr>
        <p:spPr>
          <a:xfrm>
            <a:off x="4068000" y="1601999"/>
            <a:ext cx="4104000" cy="2520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04000" y="1674000"/>
            <a:ext cx="4031999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9-Step ETA 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04000" y="1872000"/>
            <a:ext cx="4031999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04000" y="1944000"/>
            <a:ext cx="4031999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D4EC"/>
                </a:solidFill>
              </a:rPr>
              <a:t>· Fetch nomination from SAP TSW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04000" y="2142000"/>
            <a:ext cx="4031999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D4EC"/>
                </a:solidFill>
              </a:rPr>
              <a:t>· Query AIS vessel tracking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04000" y="2340000"/>
            <a:ext cx="4031999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D4EC"/>
                </a:solidFill>
              </a:rPr>
              <a:t>· Analyse historical voyage patterns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04000" y="2538000"/>
            <a:ext cx="4031999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D4EC"/>
                </a:solidFill>
              </a:rPr>
              <a:t>· Evaluate carrier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04000" y="2736000"/>
            <a:ext cx="4031999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D4EC"/>
                </a:solidFill>
              </a:rPr>
              <a:t>· Assess geopolitical risk (GDELT)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04000" y="2934000"/>
            <a:ext cx="4031999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D4EC"/>
                </a:solidFill>
              </a:rPr>
              <a:t>· Calculate risk-adjusted ETA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04000" y="3132000"/>
            <a:ext cx="4031999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D4EC"/>
                </a:solidFill>
              </a:rPr>
              <a:t>· Present report → supervisor approval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04000" y="3330000"/>
            <a:ext cx="4031999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D4EC"/>
                </a:solidFill>
              </a:rPr>
              <a:t>· Offer alternatives if rejected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04000" y="3528000"/>
            <a:ext cx="4031999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D4EC"/>
                </a:solidFill>
              </a:rPr>
              <a:t>· Write approved ETA &amp; events to SAP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04000" y="3726000"/>
            <a:ext cx="4031999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04000" y="3798000"/>
            <a:ext cx="4031999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A500"/>
                </a:solidFill>
              </a:rPr>
              <a:t>LLM: SAP AI Core  (GPT-4o)</a:t>
            </a:r>
          </a:p>
        </p:txBody>
      </p:sp>
      <p:sp>
        <p:nvSpPr>
          <p:cNvPr id="23" name="Oval 22"/>
          <p:cNvSpPr/>
          <p:nvPr/>
        </p:nvSpPr>
        <p:spPr>
          <a:xfrm>
            <a:off x="324000" y="1007999"/>
            <a:ext cx="3491999" cy="1764000"/>
          </a:xfrm>
          <a:prstGeom prst="ellipse">
            <a:avLst/>
          </a:prstGeom>
          <a:solidFill>
            <a:srgbClr val="0D4F6E"/>
          </a:solidFill>
          <a:ln w="9525"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6000" y="1062000"/>
            <a:ext cx="3347999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A3E0"/>
                </a:solidFill>
              </a:rPr>
              <a:t>SAP S/4 HANA — TSW Nominations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96000" y="1332000"/>
            <a:ext cx="3347999" cy="2520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6000" y="1385999"/>
            <a:ext cx="3347999" cy="13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D4EC"/>
                </a:solidFill>
              </a:rPr>
              <a:t>OData: TSW_MYNOMINATIONS_SRV_01</a:t>
            </a:r>
          </a:p>
          <a:p>
            <a:pPr algn="l"/>
            <a:r>
              <a:rPr sz="1000" b="0" i="0">
                <a:solidFill>
                  <a:srgbClr val="B0D4EC"/>
                </a:solidFill>
              </a:rPr>
              <a:t>· get_nomination — fetch single nomination</a:t>
            </a:r>
          </a:p>
          <a:p>
            <a:pPr algn="l"/>
            <a:r>
              <a:rPr sz="1000" b="0" i="0">
                <a:solidFill>
                  <a:srgbClr val="B0D4EC"/>
                </a:solidFill>
              </a:rPr>
              <a:t>· list_nominations — browse open nominations</a:t>
            </a:r>
          </a:p>
          <a:p>
            <a:pPr algn="l"/>
            <a:r>
              <a:rPr sz="1000" b="0" i="0">
                <a:solidFill>
                  <a:srgbClr val="B0D4EC"/>
                </a:solidFill>
              </a:rPr>
              <a:t>· create_nomination — create new nomination</a:t>
            </a:r>
          </a:p>
          <a:p>
            <a:pPr algn="l"/>
            <a:r>
              <a:rPr sz="1000" b="0" i="0">
                <a:solidFill>
                  <a:srgbClr val="B0D4EC"/>
                </a:solidFill>
              </a:rPr>
              <a:t>· update_nomination_eta — write approved ETA</a:t>
            </a:r>
          </a:p>
          <a:p>
            <a:pPr algn="l"/>
            <a:r>
              <a:rPr sz="1000" b="0" i="0">
                <a:solidFill>
                  <a:srgbClr val="B0D4EC"/>
                </a:solidFill>
              </a:rPr>
              <a:t>· update_nomination_events — write events</a:t>
            </a:r>
          </a:p>
        </p:txBody>
      </p:sp>
      <p:sp>
        <p:nvSpPr>
          <p:cNvPr id="27" name="Oval 26"/>
          <p:cNvSpPr/>
          <p:nvPr/>
        </p:nvSpPr>
        <p:spPr>
          <a:xfrm>
            <a:off x="324000" y="2916000"/>
            <a:ext cx="3491999" cy="1764000"/>
          </a:xfrm>
          <a:prstGeom prst="ellipse">
            <a:avLst/>
          </a:prstGeom>
          <a:solidFill>
            <a:srgbClr val="0D3060"/>
          </a:solidFill>
          <a:ln w="9525"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96000" y="2970000"/>
            <a:ext cx="3347999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A3E0"/>
                </a:solidFill>
              </a:rPr>
              <a:t>SAP S/4 HANA — History &amp; Performance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6000" y="3240000"/>
            <a:ext cx="3347999" cy="2520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96000" y="3294000"/>
            <a:ext cx="3347999" cy="13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D4EC"/>
                </a:solidFill>
              </a:rPr>
              <a:t>OData: TSW_MYNOMINATIONS_SRV_01</a:t>
            </a:r>
          </a:p>
          <a:p>
            <a:pPr algn="l"/>
            <a:r>
              <a:rPr sz="1000" b="0" i="0">
                <a:solidFill>
                  <a:srgbClr val="B0D4EC"/>
                </a:solidFill>
              </a:rPr>
              <a:t>· Completed nominations with completedAt</a:t>
            </a:r>
          </a:p>
          <a:p>
            <a:pPr algn="l"/>
            <a:r>
              <a:rPr sz="1000" b="0" i="0">
                <a:solidFill>
                  <a:srgbClr val="B0D4EC"/>
                </a:solidFill>
              </a:rPr>
              <a:t>· Carrier delay analysis per carrier code</a:t>
            </a:r>
          </a:p>
          <a:p>
            <a:pPr algn="l"/>
            <a:r>
              <a:rPr sz="1000" b="0" i="0">
                <a:solidFill>
                  <a:srgbClr val="B0D4EC"/>
                </a:solidFill>
              </a:rPr>
              <a:t>· Lead-time avg by material × location</a:t>
            </a:r>
          </a:p>
        </p:txBody>
      </p:sp>
      <p:sp>
        <p:nvSpPr>
          <p:cNvPr id="31" name="Oval 30"/>
          <p:cNvSpPr/>
          <p:nvPr/>
        </p:nvSpPr>
        <p:spPr>
          <a:xfrm>
            <a:off x="8748000" y="1007999"/>
            <a:ext cx="3348000" cy="1764000"/>
          </a:xfrm>
          <a:prstGeom prst="ellipse">
            <a:avLst/>
          </a:prstGeom>
          <a:solidFill>
            <a:srgbClr val="2E0D4F"/>
          </a:solidFill>
          <a:ln w="9525"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20000" y="1062000"/>
            <a:ext cx="3204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A3E0"/>
                </a:solidFill>
              </a:rPr>
              <a:t>AIS — MyShipTracking API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20000" y="1332000"/>
            <a:ext cx="3204000" cy="2520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20000" y="1385999"/>
            <a:ext cx="3204000" cy="13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D4EC"/>
                </a:solidFill>
              </a:rPr>
              <a:t>REST/JSON · API Key auth</a:t>
            </a:r>
          </a:p>
          <a:p>
            <a:pPr algn="l"/>
            <a:r>
              <a:rPr sz="1000" b="0" i="0">
                <a:solidFill>
                  <a:srgbClr val="B0D4EC"/>
                </a:solidFill>
              </a:rPr>
              <a:t>· Vessel lookup by IMO / name</a:t>
            </a:r>
          </a:p>
          <a:p>
            <a:pPr algn="l"/>
            <a:r>
              <a:rPr sz="1000" b="0" i="0">
                <a:solidFill>
                  <a:srgbClr val="B0D4EC"/>
                </a:solidFill>
              </a:rPr>
              <a:t>· Live position (lat/lon)</a:t>
            </a:r>
          </a:p>
          <a:p>
            <a:pPr algn="l"/>
            <a:r>
              <a:rPr sz="1000" b="0" i="0">
                <a:solidFill>
                  <a:srgbClr val="B0D4EC"/>
                </a:solidFill>
              </a:rPr>
              <a:t>· Destination port ETA UTC</a:t>
            </a:r>
          </a:p>
          <a:p>
            <a:pPr algn="l"/>
            <a:r>
              <a:rPr sz="1000" b="0" i="0">
                <a:solidFill>
                  <a:srgbClr val="B0D4EC"/>
                </a:solidFill>
              </a:rPr>
              <a:t>· Speed, heading, vessel status</a:t>
            </a:r>
          </a:p>
        </p:txBody>
      </p:sp>
      <p:sp>
        <p:nvSpPr>
          <p:cNvPr id="35" name="Oval 34"/>
          <p:cNvSpPr/>
          <p:nvPr/>
        </p:nvSpPr>
        <p:spPr>
          <a:xfrm>
            <a:off x="8748000" y="2916000"/>
            <a:ext cx="3348000" cy="1764000"/>
          </a:xfrm>
          <a:prstGeom prst="ellipse">
            <a:avLst/>
          </a:prstGeom>
          <a:solidFill>
            <a:srgbClr val="4F1A0D"/>
          </a:solidFill>
          <a:ln w="9525"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820000" y="2970000"/>
            <a:ext cx="3204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A3E0"/>
                </a:solidFill>
              </a:rPr>
              <a:t>GDELT — Geopolitical Risk API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820000" y="3240000"/>
            <a:ext cx="3204000" cy="2520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820000" y="3294000"/>
            <a:ext cx="3204000" cy="13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D4EC"/>
                </a:solidFill>
              </a:rPr>
              <a:t>REST/JSON · Public API</a:t>
            </a:r>
          </a:p>
          <a:p>
            <a:pPr algn="l"/>
            <a:r>
              <a:rPr sz="1000" b="0" i="0">
                <a:solidFill>
                  <a:srgbClr val="B0D4EC"/>
                </a:solidFill>
              </a:rPr>
              <a:t>· News scan near destination port</a:t>
            </a:r>
          </a:p>
          <a:p>
            <a:pPr algn="l"/>
            <a:r>
              <a:rPr sz="1000" b="0" i="0">
                <a:solidFill>
                  <a:srgbClr val="B0D4EC"/>
                </a:solidFill>
              </a:rPr>
              <a:t>· Detects: strikes, hurricanes</a:t>
            </a:r>
          </a:p>
          <a:p>
            <a:pPr algn="l"/>
            <a:r>
              <a:rPr sz="1000" b="0" i="0">
                <a:solidFill>
                  <a:srgbClr val="B0D4EC"/>
                </a:solidFill>
              </a:rPr>
              <a:t>· Detects: sanctions, port closures</a:t>
            </a:r>
          </a:p>
          <a:p>
            <a:pPr algn="l"/>
            <a:r>
              <a:rPr sz="1000" b="0" i="0">
                <a:solidFill>
                  <a:srgbClr val="B0D4EC"/>
                </a:solidFill>
              </a:rPr>
              <a:t>· Returns risk level + delay buffer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4000" y="4878000"/>
            <a:ext cx="5220000" cy="900000"/>
          </a:xfrm>
          <a:prstGeom prst="rect">
            <a:avLst/>
          </a:prstGeom>
          <a:solidFill>
            <a:srgbClr val="0A2030"/>
          </a:solidFill>
          <a:ln w="9525"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96000" y="4932000"/>
            <a:ext cx="144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A3E0"/>
                </a:solidFill>
              </a:rPr>
              <a:t>MCP SERVER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96000" y="5166000"/>
            <a:ext cx="5076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D4EC"/>
                </a:solidFill>
              </a:rPr>
              <a:t>nomination-mcp-server  (Python · FastAPI)</a:t>
            </a:r>
          </a:p>
          <a:p>
            <a:pPr algn="l"/>
            <a:r>
              <a:rPr sz="1000" b="0" i="0">
                <a:solidFill>
                  <a:srgbClr val="B0D4EC"/>
                </a:solidFill>
              </a:rPr>
              <a:t>Exposes SAP TSW nomination tools to the agent via MCP protocol</a:t>
            </a:r>
          </a:p>
          <a:p>
            <a:pPr algn="l"/>
            <a:r>
              <a:rPr sz="1000" b="0" i="0">
                <a:solidFill>
                  <a:srgbClr val="B0D4EC"/>
                </a:solidFill>
              </a:rPr>
              <a:t>Tools: get_nomination · list_nominations · create_nomination · update_nomination_eta · update_nomination_events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88000" y="4878000"/>
            <a:ext cx="6516000" cy="900000"/>
          </a:xfrm>
          <a:prstGeom prst="rect">
            <a:avLst/>
          </a:prstGeom>
          <a:solidFill>
            <a:srgbClr val="0A2030"/>
          </a:solidFill>
          <a:ln w="9525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760000" y="4932000"/>
            <a:ext cx="144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7AE60"/>
                </a:solidFill>
              </a:rPr>
              <a:t>OUTPUT TO SAP TSW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760000" y="5166000"/>
            <a:ext cx="6372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D4EC"/>
                </a:solidFill>
              </a:rPr>
              <a:t>Approved ETA written to nomination record  ·  Events recorded: Loading · Berthing · Discharge · Departure  ·  All supervisor decisions stored in CAP audit log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800000" y="6623999"/>
            <a:ext cx="12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A3A55"/>
                </a:solidFill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